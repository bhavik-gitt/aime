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AA9B764-2722-46F9-9172-E4EF9BCF7863}">
  <a:tblStyle styleId="{1AA9B764-2722-46F9-9172-E4EF9BCF7863}"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513"/>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Knee Osteoarthritis (KOA) is a progressive disease that leads to pain, disability, and reduced quality of life. Manual X-ray assessment of KOA biomarkers such as ACL, Joint Space Narrowing (JSN), Osteophytes, Sclerosis, and Cysts is often subjective, time-consuming, and inconsistent. To overcome these limitations, this research focuses on developing an automated, accurate, and interpretable deep learning–based system for KOA biomarker detection and severity assessment.</a:t>
            </a:r>
            <a:endParaRPr/>
          </a:p>
        </p:txBody>
      </p:sp>
      <p:sp>
        <p:nvSpPr>
          <p:cNvPr id="97" name="Google Shape;97;p2:notes"/>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Knee Osteoarthritis (KOA) is a progressive disease that leads to pain, disability, and reduced quality of life. Manual X-ray assessment of KOA biomarkers such as ACL, Joint Space Narrowing (JSN), Osteophytes, Sclerosis, and Cysts is often subjective, time-consuming, and inconsistent. To overcome these limitations, this research focuses on developing an automated, accurate, and interpretable deep learning–based system for KOA biomarker detection and severity assessment.</a:t>
            </a:r>
            <a:endParaRPr/>
          </a:p>
        </p:txBody>
      </p:sp>
      <p:sp>
        <p:nvSpPr>
          <p:cNvPr id="104" name="Google Shape;104;p3:notes"/>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 name="Google Shape;133;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0" name="Google Shape;150;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7" name="Google Shape;157;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12:notes"/>
          <p:cNvSpPr txBox="1"/>
          <p:nvPr>
            <p:ph idx="12" type="sldNum"/>
          </p:nvPr>
        </p:nvSpPr>
        <p:spPr>
          <a:xfrm>
            <a:off x="5180013" y="6513513"/>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1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1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4" name="Google Shape;244;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4"/>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5"/>
          <p:cNvSpPr txBox="1"/>
          <p:nvPr>
            <p:ph type="title"/>
          </p:nvPr>
        </p:nvSpPr>
        <p:spPr>
          <a:xfrm>
            <a:off x="831851" y="1709740"/>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 type="body"/>
          </p:nvPr>
        </p:nvSpPr>
        <p:spPr>
          <a:xfrm>
            <a:off x="831851" y="4589465"/>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5"/>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6"/>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7"/>
          <p:cNvSpPr txBox="1"/>
          <p:nvPr>
            <p:ph type="title"/>
          </p:nvPr>
        </p:nvSpPr>
        <p:spPr>
          <a:xfrm>
            <a:off x="839788"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7"/>
          <p:cNvSpPr txBox="1"/>
          <p:nvPr>
            <p:ph idx="2" type="body"/>
          </p:nvPr>
        </p:nvSpPr>
        <p:spPr>
          <a:xfrm>
            <a:off x="839789"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7"/>
          <p:cNvSpPr txBox="1"/>
          <p:nvPr>
            <p:ph idx="3" type="body"/>
          </p:nvPr>
        </p:nvSpPr>
        <p:spPr>
          <a:xfrm>
            <a:off x="6172201"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7"/>
          <p:cNvSpPr txBox="1"/>
          <p:nvPr>
            <p:ph idx="4" type="body"/>
          </p:nvPr>
        </p:nvSpPr>
        <p:spPr>
          <a:xfrm>
            <a:off x="6172201"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7"/>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8"/>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p:nvPr>
            <p:ph idx="2" type="pic"/>
          </p:nvPr>
        </p:nvSpPr>
        <p:spPr>
          <a:xfrm>
            <a:off x="5183188" y="987427"/>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0"/>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1"/>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2"/>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2"/>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2"/>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kaggle.com/datasets/tommyngx/digital-knee-xray" TargetMode="Externa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jpg"/><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jpg"/><Relationship Id="rId4" Type="http://schemas.openxmlformats.org/officeDocument/2006/relationships/image" Target="../media/image1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5.jp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www.tensorflow.org/" TargetMode="External"/><Relationship Id="rId4" Type="http://schemas.openxmlformats.org/officeDocument/2006/relationships/hyperlink" Target="https://pytorch.org/docs" TargetMode="External"/><Relationship Id="rId5" Type="http://schemas.openxmlformats.org/officeDocument/2006/relationships/hyperlink" Target="https://reactnative.dev/" TargetMode="External"/><Relationship Id="rId6" Type="http://schemas.openxmlformats.org/officeDocument/2006/relationships/hyperlink" Target="https://nodejs.org/doc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3"/>
          <p:cNvSpPr txBox="1"/>
          <p:nvPr>
            <p:ph type="ctrTitle"/>
          </p:nvPr>
        </p:nvSpPr>
        <p:spPr>
          <a:xfrm>
            <a:off x="251460" y="354329"/>
            <a:ext cx="11647170" cy="3361328"/>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3600"/>
              <a:buFont typeface="Cambria"/>
              <a:buNone/>
            </a:pPr>
            <a:r>
              <a:rPr b="1" lang="en-US" sz="3600">
                <a:latin typeface="Cambria"/>
                <a:ea typeface="Cambria"/>
                <a:cs typeface="Cambria"/>
                <a:sym typeface="Cambria"/>
              </a:rPr>
              <a:t>Project Presentation</a:t>
            </a:r>
            <a:br>
              <a:rPr lang="en-US" sz="2400">
                <a:latin typeface="Cambria"/>
                <a:ea typeface="Cambria"/>
                <a:cs typeface="Cambria"/>
                <a:sym typeface="Cambria"/>
              </a:rPr>
            </a:br>
            <a:br>
              <a:rPr lang="en-US" sz="2400">
                <a:latin typeface="Cambria"/>
                <a:ea typeface="Cambria"/>
                <a:cs typeface="Cambria"/>
                <a:sym typeface="Cambria"/>
              </a:rPr>
            </a:br>
            <a:br>
              <a:rPr lang="en-US" sz="2400">
                <a:latin typeface="Cambria"/>
                <a:ea typeface="Cambria"/>
                <a:cs typeface="Cambria"/>
                <a:sym typeface="Cambria"/>
              </a:rPr>
            </a:br>
            <a:r>
              <a:rPr lang="en-US" sz="2400">
                <a:latin typeface="Cambria"/>
                <a:ea typeface="Cambria"/>
                <a:cs typeface="Cambria"/>
                <a:sym typeface="Cambria"/>
              </a:rPr>
              <a:t>on</a:t>
            </a:r>
            <a:br>
              <a:rPr lang="en-US" sz="2400">
                <a:latin typeface="Cambria"/>
                <a:ea typeface="Cambria"/>
                <a:cs typeface="Cambria"/>
                <a:sym typeface="Cambria"/>
              </a:rPr>
            </a:br>
            <a:br>
              <a:rPr lang="en-US" sz="2400">
                <a:latin typeface="Cambria"/>
                <a:ea typeface="Cambria"/>
                <a:cs typeface="Cambria"/>
                <a:sym typeface="Cambria"/>
              </a:rPr>
            </a:br>
            <a:r>
              <a:rPr lang="en-US" sz="2800">
                <a:latin typeface="Cambria"/>
                <a:ea typeface="Cambria"/>
                <a:cs typeface="Cambria"/>
                <a:sym typeface="Cambria"/>
              </a:rPr>
              <a:t>“</a:t>
            </a:r>
            <a:r>
              <a:rPr b="1" lang="en-US" sz="2800">
                <a:latin typeface="Cambria"/>
                <a:ea typeface="Cambria"/>
                <a:cs typeface="Cambria"/>
                <a:sym typeface="Cambria"/>
              </a:rPr>
              <a:t>AIME - AI that understands real you</a:t>
            </a:r>
            <a:r>
              <a:rPr b="1" lang="en-US" sz="2800">
                <a:latin typeface="Cambria"/>
                <a:ea typeface="Cambria"/>
                <a:cs typeface="Cambria"/>
                <a:sym typeface="Cambria"/>
              </a:rPr>
              <a:t>”</a:t>
            </a:r>
            <a:br>
              <a:rPr b="1" lang="en-US" sz="2400">
                <a:latin typeface="Cambria"/>
                <a:ea typeface="Cambria"/>
                <a:cs typeface="Cambria"/>
                <a:sym typeface="Cambria"/>
              </a:rPr>
            </a:br>
            <a:endParaRPr b="1" sz="2400">
              <a:latin typeface="Cambria"/>
              <a:ea typeface="Cambria"/>
              <a:cs typeface="Cambria"/>
              <a:sym typeface="Cambria"/>
            </a:endParaRPr>
          </a:p>
        </p:txBody>
      </p:sp>
      <p:pic>
        <p:nvPicPr>
          <p:cNvPr id="89" name="Google Shape;89;p13"/>
          <p:cNvPicPr preferRelativeResize="0"/>
          <p:nvPr/>
        </p:nvPicPr>
        <p:blipFill rotWithShape="1">
          <a:blip r:embed="rId3">
            <a:alphaModFix/>
          </a:blip>
          <a:srcRect b="0" l="0" r="0" t="0"/>
          <a:stretch/>
        </p:blipFill>
        <p:spPr>
          <a:xfrm>
            <a:off x="15413" y="0"/>
            <a:ext cx="2487757" cy="1479403"/>
          </a:xfrm>
          <a:prstGeom prst="rect">
            <a:avLst/>
          </a:prstGeom>
          <a:noFill/>
          <a:ln>
            <a:noFill/>
          </a:ln>
        </p:spPr>
      </p:pic>
      <p:pic>
        <p:nvPicPr>
          <p:cNvPr id="90" name="Google Shape;90;p13"/>
          <p:cNvPicPr preferRelativeResize="0"/>
          <p:nvPr/>
        </p:nvPicPr>
        <p:blipFill rotWithShape="1">
          <a:blip r:embed="rId4">
            <a:alphaModFix/>
          </a:blip>
          <a:srcRect b="0" l="0" r="0" t="0"/>
          <a:stretch/>
        </p:blipFill>
        <p:spPr>
          <a:xfrm>
            <a:off x="10687644" y="1"/>
            <a:ext cx="1480546" cy="1485202"/>
          </a:xfrm>
          <a:prstGeom prst="rect">
            <a:avLst/>
          </a:prstGeom>
          <a:noFill/>
          <a:ln>
            <a:noFill/>
          </a:ln>
        </p:spPr>
      </p:pic>
      <p:sp>
        <p:nvSpPr>
          <p:cNvPr id="91" name="Google Shape;91;p13"/>
          <p:cNvSpPr txBox="1"/>
          <p:nvPr/>
        </p:nvSpPr>
        <p:spPr>
          <a:xfrm>
            <a:off x="272415" y="3897630"/>
            <a:ext cx="3565659" cy="169164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dk1"/>
              </a:buClr>
              <a:buSzPts val="2400"/>
              <a:buFont typeface="Cambria"/>
              <a:buNone/>
            </a:pPr>
            <a:r>
              <a:rPr b="1" i="0" lang="en-US" sz="2400" u="none" cap="none" strike="noStrike">
                <a:solidFill>
                  <a:schemeClr val="dk1"/>
                </a:solidFill>
                <a:latin typeface="Cambria"/>
                <a:ea typeface="Cambria"/>
                <a:cs typeface="Cambria"/>
                <a:sym typeface="Cambria"/>
              </a:rPr>
              <a:t>Supervisor Name </a:t>
            </a:r>
            <a:br>
              <a:rPr b="1" i="0" lang="en-US" sz="2400" u="none" cap="none" strike="noStrike">
                <a:solidFill>
                  <a:schemeClr val="dk1"/>
                </a:solidFill>
                <a:latin typeface="Cambria"/>
                <a:ea typeface="Cambria"/>
                <a:cs typeface="Cambria"/>
                <a:sym typeface="Cambria"/>
              </a:rPr>
            </a:br>
            <a:r>
              <a:rPr b="0" i="0" lang="en-US" sz="2400" u="none" cap="none" strike="noStrike">
                <a:solidFill>
                  <a:schemeClr val="dk1"/>
                </a:solidFill>
                <a:latin typeface="Cambria"/>
                <a:ea typeface="Cambria"/>
                <a:cs typeface="Cambria"/>
                <a:sym typeface="Cambria"/>
              </a:rPr>
              <a:t>Kailash Kumar Pareek</a:t>
            </a:r>
            <a:br>
              <a:rPr b="0" i="0" lang="en-US" sz="2400" u="none" cap="none" strike="noStrike">
                <a:solidFill>
                  <a:schemeClr val="dk1"/>
                </a:solidFill>
                <a:latin typeface="Cambria"/>
                <a:ea typeface="Cambria"/>
                <a:cs typeface="Cambria"/>
                <a:sym typeface="Cambria"/>
              </a:rPr>
            </a:br>
            <a:r>
              <a:rPr b="0" i="0" lang="en-US" sz="2400" u="none" cap="none" strike="noStrike">
                <a:solidFill>
                  <a:schemeClr val="dk1"/>
                </a:solidFill>
                <a:latin typeface="Cambria"/>
                <a:ea typeface="Cambria"/>
                <a:cs typeface="Cambria"/>
                <a:sym typeface="Cambria"/>
              </a:rPr>
              <a:t>Assistant Professor                                                                               	</a:t>
            </a:r>
            <a:br>
              <a:rPr b="0" i="0" lang="en-US" sz="2400" u="none" cap="none" strike="noStrike">
                <a:solidFill>
                  <a:schemeClr val="dk1"/>
                </a:solidFill>
                <a:latin typeface="Cambria"/>
                <a:ea typeface="Cambria"/>
                <a:cs typeface="Cambria"/>
                <a:sym typeface="Cambria"/>
              </a:rPr>
            </a:br>
            <a:r>
              <a:rPr b="0" i="0" lang="en-US" sz="2400" u="none" cap="none" strike="noStrike">
                <a:solidFill>
                  <a:schemeClr val="dk1"/>
                </a:solidFill>
                <a:latin typeface="Cambria"/>
                <a:ea typeface="Cambria"/>
                <a:cs typeface="Cambria"/>
                <a:sym typeface="Cambria"/>
              </a:rPr>
              <a:t>                                                                                                                     </a:t>
            </a:r>
            <a:endParaRPr b="1" i="0" sz="2400" u="none" cap="none" strike="noStrike">
              <a:solidFill>
                <a:schemeClr val="dk1"/>
              </a:solidFill>
              <a:latin typeface="Cambria"/>
              <a:ea typeface="Cambria"/>
              <a:cs typeface="Cambria"/>
              <a:sym typeface="Cambria"/>
            </a:endParaRPr>
          </a:p>
        </p:txBody>
      </p:sp>
      <p:sp>
        <p:nvSpPr>
          <p:cNvPr id="92" name="Google Shape;92;p13"/>
          <p:cNvSpPr txBox="1"/>
          <p:nvPr/>
        </p:nvSpPr>
        <p:spPr>
          <a:xfrm>
            <a:off x="272415" y="5760719"/>
            <a:ext cx="11647170" cy="109728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400"/>
              <a:buFont typeface="Cambria"/>
              <a:buNone/>
            </a:pPr>
            <a:r>
              <a:rPr b="1" i="0" lang="en-US" sz="2400" u="none" cap="none" strike="noStrike">
                <a:solidFill>
                  <a:schemeClr val="dk1"/>
                </a:solidFill>
                <a:latin typeface="Cambria"/>
                <a:ea typeface="Cambria"/>
                <a:cs typeface="Cambria"/>
                <a:sym typeface="Cambria"/>
              </a:rPr>
              <a:t>Department of Information Technology</a:t>
            </a:r>
            <a:endParaRPr b="1" i="0" sz="2400" u="none" cap="none" strike="noStrike">
              <a:solidFill>
                <a:schemeClr val="dk1"/>
              </a:solidFill>
              <a:latin typeface="Cambria"/>
              <a:ea typeface="Cambria"/>
              <a:cs typeface="Cambria"/>
              <a:sym typeface="Cambria"/>
            </a:endParaRPr>
          </a:p>
          <a:p>
            <a:pPr indent="0" lvl="0" marL="0" marR="0" rtl="0" algn="ctr">
              <a:lnSpc>
                <a:spcPct val="100000"/>
              </a:lnSpc>
              <a:spcBef>
                <a:spcPts val="0"/>
              </a:spcBef>
              <a:spcAft>
                <a:spcPts val="0"/>
              </a:spcAft>
              <a:buClr>
                <a:schemeClr val="dk1"/>
              </a:buClr>
              <a:buSzPts val="2400"/>
              <a:buFont typeface="Cambria"/>
              <a:buNone/>
            </a:pPr>
            <a:r>
              <a:rPr b="1" i="0" lang="en-US" sz="2400" u="none" cap="none" strike="noStrike">
                <a:solidFill>
                  <a:schemeClr val="dk1"/>
                </a:solidFill>
                <a:latin typeface="Cambria"/>
                <a:ea typeface="Cambria"/>
                <a:cs typeface="Cambria"/>
                <a:sym typeface="Cambria"/>
              </a:rPr>
              <a:t>Parul University, Vadodara, Gujarat</a:t>
            </a:r>
            <a:endParaRPr b="1" i="0" sz="2400" u="none" cap="none" strike="noStrike">
              <a:solidFill>
                <a:schemeClr val="dk1"/>
              </a:solidFill>
              <a:latin typeface="Cambria"/>
              <a:ea typeface="Cambria"/>
              <a:cs typeface="Cambria"/>
              <a:sym typeface="Cambria"/>
            </a:endParaRPr>
          </a:p>
        </p:txBody>
      </p:sp>
      <p:sp>
        <p:nvSpPr>
          <p:cNvPr id="93" name="Google Shape;93;p13"/>
          <p:cNvSpPr txBox="1"/>
          <p:nvPr/>
        </p:nvSpPr>
        <p:spPr>
          <a:xfrm>
            <a:off x="5973726" y="3715650"/>
            <a:ext cx="6093900" cy="1691700"/>
          </a:xfrm>
          <a:prstGeom prst="rect">
            <a:avLst/>
          </a:prstGeom>
          <a:noFill/>
          <a:ln>
            <a:noFill/>
          </a:ln>
        </p:spPr>
        <p:txBody>
          <a:bodyPr anchorCtr="0" anchor="ctr" bIns="45700" lIns="91425" spcFirstLastPara="1" rIns="91425" wrap="square" tIns="45700">
            <a:noAutofit/>
          </a:bodyPr>
          <a:lstStyle/>
          <a:p>
            <a:pPr indent="0" lvl="0" marL="0" marR="0" rtl="0" algn="r">
              <a:lnSpc>
                <a:spcPct val="90000"/>
              </a:lnSpc>
              <a:spcBef>
                <a:spcPts val="0"/>
              </a:spcBef>
              <a:spcAft>
                <a:spcPts val="0"/>
              </a:spcAft>
              <a:buClr>
                <a:schemeClr val="dk1"/>
              </a:buClr>
              <a:buSzPts val="2400"/>
              <a:buFont typeface="Cambria"/>
              <a:buNone/>
            </a:pPr>
            <a:r>
              <a:rPr b="1" i="0" lang="en-US" sz="2400" u="none" cap="none" strike="noStrike">
                <a:solidFill>
                  <a:schemeClr val="dk1"/>
                </a:solidFill>
                <a:latin typeface="Cambria"/>
                <a:ea typeface="Cambria"/>
                <a:cs typeface="Cambria"/>
                <a:sym typeface="Cambria"/>
              </a:rPr>
              <a:t>Presented By:</a:t>
            </a:r>
            <a:br>
              <a:rPr b="1" i="0" lang="en-US" sz="2400" u="none" cap="none" strike="noStrike">
                <a:solidFill>
                  <a:schemeClr val="dk1"/>
                </a:solidFill>
                <a:latin typeface="Cambria"/>
                <a:ea typeface="Cambria"/>
                <a:cs typeface="Cambria"/>
                <a:sym typeface="Cambria"/>
              </a:rPr>
            </a:br>
            <a:r>
              <a:rPr lang="en-US" sz="2400">
                <a:solidFill>
                  <a:schemeClr val="dk1"/>
                </a:solidFill>
                <a:latin typeface="Cambria"/>
                <a:ea typeface="Cambria"/>
                <a:cs typeface="Cambria"/>
                <a:sym typeface="Cambria"/>
              </a:rPr>
              <a:t>Bhavik Ratnottar(2403031087089)</a:t>
            </a:r>
            <a:endParaRPr sz="2400">
              <a:solidFill>
                <a:schemeClr val="dk1"/>
              </a:solidFill>
              <a:latin typeface="Cambria"/>
              <a:ea typeface="Cambria"/>
              <a:cs typeface="Cambria"/>
              <a:sym typeface="Cambria"/>
            </a:endParaRPr>
          </a:p>
          <a:p>
            <a:pPr indent="0" lvl="0" marL="0" marR="0" rtl="0" algn="r">
              <a:lnSpc>
                <a:spcPct val="90000"/>
              </a:lnSpc>
              <a:spcBef>
                <a:spcPts val="0"/>
              </a:spcBef>
              <a:spcAft>
                <a:spcPts val="0"/>
              </a:spcAft>
              <a:buClr>
                <a:schemeClr val="dk1"/>
              </a:buClr>
              <a:buSzPts val="2400"/>
              <a:buFont typeface="Cambria"/>
              <a:buNone/>
            </a:pPr>
            <a:r>
              <a:rPr lang="en-US" sz="2400">
                <a:solidFill>
                  <a:schemeClr val="dk1"/>
                </a:solidFill>
                <a:latin typeface="Cambria"/>
                <a:ea typeface="Cambria"/>
                <a:cs typeface="Cambria"/>
                <a:sym typeface="Cambria"/>
              </a:rPr>
              <a:t>AbdulHannan Dheriwala(2403031087001</a:t>
            </a:r>
            <a:endParaRPr sz="2400">
              <a:solidFill>
                <a:schemeClr val="dk1"/>
              </a:solidFill>
              <a:latin typeface="Cambria"/>
              <a:ea typeface="Cambria"/>
              <a:cs typeface="Cambria"/>
              <a:sym typeface="Cambria"/>
            </a:endParaRPr>
          </a:p>
          <a:p>
            <a:pPr indent="0" lvl="0" marL="0" marR="0" rtl="0" algn="r">
              <a:lnSpc>
                <a:spcPct val="90000"/>
              </a:lnSpc>
              <a:spcBef>
                <a:spcPts val="0"/>
              </a:spcBef>
              <a:spcAft>
                <a:spcPts val="0"/>
              </a:spcAft>
              <a:buClr>
                <a:schemeClr val="dk1"/>
              </a:buClr>
              <a:buSzPts val="2400"/>
              <a:buFont typeface="Cambria"/>
              <a:buNone/>
            </a:pPr>
            <a:r>
              <a:rPr lang="en-US" sz="2400">
                <a:solidFill>
                  <a:schemeClr val="dk1"/>
                </a:solidFill>
                <a:latin typeface="Cambria"/>
                <a:ea typeface="Cambria"/>
                <a:cs typeface="Cambria"/>
                <a:sym typeface="Cambria"/>
              </a:rPr>
              <a:t>Zaid Saiyed(2303031080012)</a:t>
            </a:r>
            <a:endParaRPr sz="2400">
              <a:solidFill>
                <a:schemeClr val="dk1"/>
              </a:solidFill>
              <a:latin typeface="Cambria"/>
              <a:ea typeface="Cambria"/>
              <a:cs typeface="Cambria"/>
              <a:sym typeface="Cambria"/>
            </a:endParaRPr>
          </a:p>
          <a:p>
            <a:pPr indent="0" lvl="0" marL="0" marR="0" rtl="0" algn="r">
              <a:lnSpc>
                <a:spcPct val="90000"/>
              </a:lnSpc>
              <a:spcBef>
                <a:spcPts val="0"/>
              </a:spcBef>
              <a:spcAft>
                <a:spcPts val="0"/>
              </a:spcAft>
              <a:buClr>
                <a:schemeClr val="dk1"/>
              </a:buClr>
              <a:buSzPts val="2400"/>
              <a:buFont typeface="Cambria"/>
              <a:buNone/>
            </a:pPr>
            <a:r>
              <a:rPr lang="en-US" sz="2400">
                <a:solidFill>
                  <a:schemeClr val="dk1"/>
                </a:solidFill>
                <a:latin typeface="Cambria"/>
                <a:ea typeface="Cambria"/>
                <a:cs typeface="Cambria"/>
                <a:sym typeface="Cambria"/>
              </a:rPr>
              <a:t>Jay patel(2403031087165)</a:t>
            </a:r>
            <a:br>
              <a:rPr b="0" i="0" lang="en-US" sz="2400" u="none" cap="none" strike="noStrike">
                <a:solidFill>
                  <a:schemeClr val="dk1"/>
                </a:solidFill>
                <a:latin typeface="Cambria"/>
                <a:ea typeface="Cambria"/>
                <a:cs typeface="Cambria"/>
                <a:sym typeface="Cambria"/>
              </a:rPr>
            </a:br>
            <a:endParaRPr b="1" i="0" sz="2400" u="none" cap="none" strike="noStrike">
              <a:solidFill>
                <a:schemeClr val="dk1"/>
              </a:solidFill>
              <a:latin typeface="Cambria"/>
              <a:ea typeface="Cambria"/>
              <a:cs typeface="Cambria"/>
              <a:sym typeface="Cambr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4"/>
          <p:cNvSpPr txBox="1"/>
          <p:nvPr>
            <p:ph type="title"/>
          </p:nvPr>
        </p:nvSpPr>
        <p:spPr>
          <a:xfrm>
            <a:off x="429127" y="540287"/>
            <a:ext cx="10515600" cy="7300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lang="en-US" sz="4000">
                <a:latin typeface="Cambria"/>
                <a:ea typeface="Cambria"/>
                <a:cs typeface="Cambria"/>
                <a:sym typeface="Cambria"/>
              </a:rPr>
              <a:t>Problem Statement</a:t>
            </a:r>
            <a:endParaRPr sz="4000">
              <a:latin typeface="Cambria"/>
              <a:ea typeface="Cambria"/>
              <a:cs typeface="Cambria"/>
              <a:sym typeface="Cambria"/>
            </a:endParaRPr>
          </a:p>
        </p:txBody>
      </p:sp>
      <p:sp>
        <p:nvSpPr>
          <p:cNvPr id="100" name="Google Shape;100;p14"/>
          <p:cNvSpPr txBox="1"/>
          <p:nvPr>
            <p:ph idx="1" type="body"/>
          </p:nvPr>
        </p:nvSpPr>
        <p:spPr>
          <a:xfrm>
            <a:off x="193100" y="1596050"/>
            <a:ext cx="11903400" cy="3347700"/>
          </a:xfrm>
          <a:prstGeom prst="rect">
            <a:avLst/>
          </a:prstGeom>
          <a:noFill/>
          <a:ln>
            <a:noFill/>
          </a:ln>
        </p:spPr>
        <p:txBody>
          <a:bodyPr anchorCtr="0" anchor="ctr" bIns="45700" lIns="91425" spcFirstLastPara="1" rIns="91425" wrap="square" tIns="45700">
            <a:spAutoFit/>
          </a:bodyPr>
          <a:lstStyle/>
          <a:p>
            <a:pPr indent="-387350" lvl="0" marL="457200" rtl="0" algn="just">
              <a:lnSpc>
                <a:spcPct val="115000"/>
              </a:lnSpc>
              <a:spcBef>
                <a:spcPts val="0"/>
              </a:spcBef>
              <a:spcAft>
                <a:spcPts val="0"/>
              </a:spcAft>
              <a:buSzPts val="2500"/>
              <a:buChar char="•"/>
            </a:pPr>
            <a:r>
              <a:rPr lang="en-US" sz="2500">
                <a:highlight>
                  <a:srgbClr val="FFFFFF"/>
                </a:highlight>
              </a:rPr>
              <a:t>Rising mental health issues among students and professionals</a:t>
            </a:r>
            <a:endParaRPr sz="2500">
              <a:highlight>
                <a:srgbClr val="FFFFFF"/>
              </a:highlight>
            </a:endParaRPr>
          </a:p>
          <a:p>
            <a:pPr indent="-387350" lvl="0" marL="457200" rtl="0" algn="just">
              <a:lnSpc>
                <a:spcPct val="115000"/>
              </a:lnSpc>
              <a:spcBef>
                <a:spcPts val="0"/>
              </a:spcBef>
              <a:spcAft>
                <a:spcPts val="0"/>
              </a:spcAft>
              <a:buSzPts val="2500"/>
              <a:buChar char="•"/>
            </a:pPr>
            <a:r>
              <a:rPr lang="en-US" sz="2500">
                <a:highlight>
                  <a:srgbClr val="FFFFFF"/>
                </a:highlight>
              </a:rPr>
              <a:t>Difficulty in identifying emotions through text alone</a:t>
            </a:r>
            <a:endParaRPr sz="2500">
              <a:highlight>
                <a:srgbClr val="FFFFFF"/>
              </a:highlight>
            </a:endParaRPr>
          </a:p>
          <a:p>
            <a:pPr indent="-387350" lvl="0" marL="457200" rtl="0" algn="just">
              <a:lnSpc>
                <a:spcPct val="115000"/>
              </a:lnSpc>
              <a:spcBef>
                <a:spcPts val="0"/>
              </a:spcBef>
              <a:spcAft>
                <a:spcPts val="0"/>
              </a:spcAft>
              <a:buSzPts val="2500"/>
              <a:buChar char="•"/>
            </a:pPr>
            <a:r>
              <a:rPr lang="en-US" sz="2500">
                <a:highlight>
                  <a:srgbClr val="FFFFFF"/>
                </a:highlight>
              </a:rPr>
              <a:t>Need for non-intrusive, real-time emotion understanding</a:t>
            </a:r>
            <a:endParaRPr sz="2500">
              <a:highlight>
                <a:srgbClr val="FFFFFF"/>
              </a:highlight>
            </a:endParaRPr>
          </a:p>
          <a:p>
            <a:pPr indent="-387350" lvl="0" marL="457200" rtl="0" algn="just">
              <a:lnSpc>
                <a:spcPct val="115000"/>
              </a:lnSpc>
              <a:spcBef>
                <a:spcPts val="0"/>
              </a:spcBef>
              <a:spcAft>
                <a:spcPts val="0"/>
              </a:spcAft>
              <a:buSzPts val="2500"/>
              <a:buChar char="•"/>
            </a:pPr>
            <a:r>
              <a:rPr lang="en-US" sz="2500">
                <a:highlight>
                  <a:srgbClr val="FFFFFF"/>
                </a:highlight>
              </a:rPr>
              <a:t>Lack of affordable AI systems for emotional monitoring</a:t>
            </a:r>
            <a:endParaRPr sz="2500">
              <a:highlight>
                <a:srgbClr val="FFFFFF"/>
              </a:highlight>
            </a:endParaRPr>
          </a:p>
          <a:p>
            <a:pPr indent="0" lvl="0" marL="457200" rtl="0" algn="just">
              <a:lnSpc>
                <a:spcPct val="115000"/>
              </a:lnSpc>
              <a:spcBef>
                <a:spcPts val="0"/>
              </a:spcBef>
              <a:spcAft>
                <a:spcPts val="0"/>
              </a:spcAft>
              <a:buClr>
                <a:schemeClr val="dk1"/>
              </a:buClr>
              <a:buSzPts val="1100"/>
              <a:buFont typeface="Arial"/>
              <a:buNone/>
            </a:pPr>
            <a:r>
              <a:rPr lang="en-US" sz="2500">
                <a:highlight>
                  <a:srgbClr val="FFFFFF"/>
                </a:highlight>
              </a:rPr>
              <a:t> </a:t>
            </a:r>
            <a:endParaRPr sz="2500">
              <a:highlight>
                <a:srgbClr val="FFFFFF"/>
              </a:highlight>
            </a:endParaRPr>
          </a:p>
          <a:p>
            <a:pPr indent="0" lvl="0" marL="457200" rtl="0" algn="just">
              <a:lnSpc>
                <a:spcPct val="115000"/>
              </a:lnSpc>
              <a:spcBef>
                <a:spcPts val="0"/>
              </a:spcBef>
              <a:spcAft>
                <a:spcPts val="0"/>
              </a:spcAft>
              <a:buClr>
                <a:schemeClr val="dk1"/>
              </a:buClr>
              <a:buSzPts val="1100"/>
              <a:buFont typeface="Arial"/>
              <a:buNone/>
            </a:pPr>
            <a:r>
              <a:rPr lang="en-US" sz="2500">
                <a:highlight>
                  <a:srgbClr val="FFFFFF"/>
                </a:highlight>
              </a:rPr>
              <a:t>AIME aims to bridge the gap between human emotions and intelligent systems.</a:t>
            </a:r>
            <a:endParaRPr sz="2500">
              <a:highlight>
                <a:srgbClr val="FFFFFF"/>
              </a:highlight>
            </a:endParaRPr>
          </a:p>
          <a:p>
            <a:pPr indent="0" lvl="0" marL="457200" rtl="0" algn="just">
              <a:lnSpc>
                <a:spcPct val="115000"/>
              </a:lnSpc>
              <a:spcBef>
                <a:spcPts val="0"/>
              </a:spcBef>
              <a:spcAft>
                <a:spcPts val="0"/>
              </a:spcAft>
              <a:buClr>
                <a:schemeClr val="dk1"/>
              </a:buClr>
              <a:buSzPts val="1100"/>
              <a:buFont typeface="Arial"/>
              <a:buNone/>
            </a:pPr>
            <a:r>
              <a:t/>
            </a:r>
            <a:endParaRPr sz="2000">
              <a:highlight>
                <a:srgbClr val="FFFFFF"/>
              </a:highlight>
            </a:endParaRPr>
          </a:p>
          <a:p>
            <a:pPr indent="0" lvl="1" marL="36513" rtl="0" algn="just">
              <a:lnSpc>
                <a:spcPct val="150000"/>
              </a:lnSpc>
              <a:spcBef>
                <a:spcPts val="0"/>
              </a:spcBef>
              <a:spcAft>
                <a:spcPts val="0"/>
              </a:spcAft>
              <a:buClr>
                <a:schemeClr val="dk1"/>
              </a:buClr>
              <a:buSzPts val="1600"/>
              <a:buNone/>
            </a:pPr>
            <a:r>
              <a:t/>
            </a:r>
            <a:endParaRPr b="1" sz="1600">
              <a:solidFill>
                <a:srgbClr val="C00000"/>
              </a:solidFill>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5"/>
          <p:cNvSpPr txBox="1"/>
          <p:nvPr>
            <p:ph type="title"/>
          </p:nvPr>
        </p:nvSpPr>
        <p:spPr>
          <a:xfrm>
            <a:off x="429127" y="540287"/>
            <a:ext cx="10515600" cy="73002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mbria"/>
              <a:buNone/>
            </a:pPr>
            <a:r>
              <a:rPr lang="en-US" sz="4000">
                <a:latin typeface="Cambria"/>
                <a:ea typeface="Cambria"/>
                <a:cs typeface="Cambria"/>
                <a:sym typeface="Cambria"/>
              </a:rPr>
              <a:t>Objectives</a:t>
            </a:r>
            <a:endParaRPr sz="4000">
              <a:latin typeface="Cambria"/>
              <a:ea typeface="Cambria"/>
              <a:cs typeface="Cambria"/>
              <a:sym typeface="Cambria"/>
            </a:endParaRPr>
          </a:p>
        </p:txBody>
      </p:sp>
      <p:sp>
        <p:nvSpPr>
          <p:cNvPr id="107" name="Google Shape;107;p15"/>
          <p:cNvSpPr txBox="1"/>
          <p:nvPr>
            <p:ph idx="1" type="body"/>
          </p:nvPr>
        </p:nvSpPr>
        <p:spPr>
          <a:xfrm>
            <a:off x="140750" y="1420475"/>
            <a:ext cx="11670000" cy="3873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2600">
                <a:latin typeface="Cambria"/>
                <a:ea typeface="Cambria"/>
                <a:cs typeface="Cambria"/>
                <a:sym typeface="Cambria"/>
              </a:rPr>
              <a:t>• Build a </a:t>
            </a:r>
            <a:r>
              <a:rPr b="1" lang="en-US" sz="2600">
                <a:latin typeface="Cambria"/>
                <a:ea typeface="Cambria"/>
                <a:cs typeface="Cambria"/>
                <a:sym typeface="Cambria"/>
              </a:rPr>
              <a:t>lightweight video emotion recognition system</a:t>
            </a:r>
            <a:endParaRPr b="1" sz="2600">
              <a:latin typeface="Cambria"/>
              <a:ea typeface="Cambria"/>
              <a:cs typeface="Cambria"/>
              <a:sym typeface="Cambria"/>
            </a:endParaRPr>
          </a:p>
          <a:p>
            <a:pPr indent="0" lvl="0" marL="0" rtl="0" algn="l">
              <a:lnSpc>
                <a:spcPct val="90000"/>
              </a:lnSpc>
              <a:spcBef>
                <a:spcPts val="1000"/>
              </a:spcBef>
              <a:spcAft>
                <a:spcPts val="0"/>
              </a:spcAft>
              <a:buSzPts val="1800"/>
              <a:buNone/>
            </a:pPr>
            <a:r>
              <a:rPr lang="en-US" sz="2600">
                <a:latin typeface="Cambria"/>
                <a:ea typeface="Cambria"/>
                <a:cs typeface="Cambria"/>
                <a:sym typeface="Cambria"/>
              </a:rPr>
              <a:t>• Use </a:t>
            </a:r>
            <a:r>
              <a:rPr b="1" lang="en-US" sz="2600">
                <a:latin typeface="Cambria"/>
                <a:ea typeface="Cambria"/>
                <a:cs typeface="Cambria"/>
                <a:sym typeface="Cambria"/>
              </a:rPr>
              <a:t>MobileNetV2 </a:t>
            </a:r>
            <a:r>
              <a:rPr lang="en-US" sz="2600">
                <a:latin typeface="Cambria"/>
                <a:ea typeface="Cambria"/>
                <a:cs typeface="Cambria"/>
                <a:sym typeface="Cambria"/>
              </a:rPr>
              <a:t>for faster training</a:t>
            </a:r>
            <a:endParaRPr sz="2600">
              <a:latin typeface="Cambria"/>
              <a:ea typeface="Cambria"/>
              <a:cs typeface="Cambria"/>
              <a:sym typeface="Cambria"/>
            </a:endParaRPr>
          </a:p>
          <a:p>
            <a:pPr indent="0" lvl="0" marL="0" rtl="0" algn="l">
              <a:lnSpc>
                <a:spcPct val="90000"/>
              </a:lnSpc>
              <a:spcBef>
                <a:spcPts val="1000"/>
              </a:spcBef>
              <a:spcAft>
                <a:spcPts val="0"/>
              </a:spcAft>
              <a:buSzPts val="1800"/>
              <a:buNone/>
            </a:pPr>
            <a:r>
              <a:rPr lang="en-US" sz="2600">
                <a:latin typeface="Cambria"/>
                <a:ea typeface="Cambria"/>
                <a:cs typeface="Cambria"/>
                <a:sym typeface="Cambria"/>
              </a:rPr>
              <a:t>• Reduce memory usage via </a:t>
            </a:r>
            <a:r>
              <a:rPr b="1" lang="en-US" sz="2600">
                <a:latin typeface="Cambria"/>
                <a:ea typeface="Cambria"/>
                <a:cs typeface="Cambria"/>
                <a:sym typeface="Cambria"/>
              </a:rPr>
              <a:t>frame sampling</a:t>
            </a:r>
            <a:endParaRPr b="1" sz="2600">
              <a:latin typeface="Cambria"/>
              <a:ea typeface="Cambria"/>
              <a:cs typeface="Cambria"/>
              <a:sym typeface="Cambria"/>
            </a:endParaRPr>
          </a:p>
          <a:p>
            <a:pPr indent="0" lvl="0" marL="0" rtl="0" algn="l">
              <a:lnSpc>
                <a:spcPct val="90000"/>
              </a:lnSpc>
              <a:spcBef>
                <a:spcPts val="1000"/>
              </a:spcBef>
              <a:spcAft>
                <a:spcPts val="0"/>
              </a:spcAft>
              <a:buSzPts val="1800"/>
              <a:buNone/>
            </a:pPr>
            <a:r>
              <a:rPr lang="en-US" sz="2600">
                <a:latin typeface="Cambria"/>
                <a:ea typeface="Cambria"/>
                <a:cs typeface="Cambria"/>
                <a:sym typeface="Cambria"/>
              </a:rPr>
              <a:t>• Achieve reliable local accuracy</a:t>
            </a:r>
            <a:endParaRPr sz="2600">
              <a:latin typeface="Cambria"/>
              <a:ea typeface="Cambria"/>
              <a:cs typeface="Cambria"/>
              <a:sym typeface="Cambria"/>
            </a:endParaRPr>
          </a:p>
          <a:p>
            <a:pPr indent="0" lvl="0" marL="0" rtl="0" algn="l">
              <a:lnSpc>
                <a:spcPct val="90000"/>
              </a:lnSpc>
              <a:spcBef>
                <a:spcPts val="1000"/>
              </a:spcBef>
              <a:spcAft>
                <a:spcPts val="0"/>
              </a:spcAft>
              <a:buSzPts val="1800"/>
              <a:buNone/>
            </a:pPr>
            <a:r>
              <a:rPr lang="en-US" sz="2600">
                <a:latin typeface="Cambria"/>
                <a:ea typeface="Cambria"/>
                <a:cs typeface="Cambria"/>
                <a:sym typeface="Cambria"/>
              </a:rPr>
              <a:t>• Extend system to </a:t>
            </a:r>
            <a:r>
              <a:rPr b="1" lang="en-US" sz="2600">
                <a:latin typeface="Cambria"/>
                <a:ea typeface="Cambria"/>
                <a:cs typeface="Cambria"/>
                <a:sym typeface="Cambria"/>
              </a:rPr>
              <a:t>audio-based emotion recognition</a:t>
            </a:r>
            <a:endParaRPr b="1" sz="2600">
              <a:latin typeface="Cambria"/>
              <a:ea typeface="Cambria"/>
              <a:cs typeface="Cambria"/>
              <a:sym typeface="Cambria"/>
            </a:endParaRPr>
          </a:p>
        </p:txBody>
      </p:sp>
      <p:sp>
        <p:nvSpPr>
          <p:cNvPr id="108" name="Google Shape;108;p15"/>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157715" y="308606"/>
            <a:ext cx="10515600" cy="44489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mbria"/>
              <a:buNone/>
            </a:pPr>
            <a:r>
              <a:rPr lang="en-US" sz="3500">
                <a:latin typeface="Cambria"/>
                <a:ea typeface="Cambria"/>
                <a:cs typeface="Cambria"/>
                <a:sym typeface="Cambria"/>
              </a:rPr>
              <a:t>Literature Review</a:t>
            </a:r>
            <a:endParaRPr sz="3500">
              <a:latin typeface="Cambria"/>
              <a:ea typeface="Cambria"/>
              <a:cs typeface="Cambria"/>
              <a:sym typeface="Cambria"/>
            </a:endParaRPr>
          </a:p>
        </p:txBody>
      </p:sp>
      <p:sp>
        <p:nvSpPr>
          <p:cNvPr id="114" name="Google Shape;114;p16"/>
          <p:cNvSpPr txBox="1"/>
          <p:nvPr/>
        </p:nvSpPr>
        <p:spPr>
          <a:xfrm>
            <a:off x="202020" y="906871"/>
            <a:ext cx="1173834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mbria"/>
                <a:ea typeface="Cambria"/>
                <a:cs typeface="Cambria"/>
                <a:sym typeface="Cambria"/>
              </a:rPr>
              <a:t>Table 1: Literature Review</a:t>
            </a:r>
            <a:endParaRPr b="1" i="0" sz="1800" u="none" cap="none" strike="noStrike">
              <a:solidFill>
                <a:schemeClr val="dk1"/>
              </a:solidFill>
              <a:latin typeface="Cambria"/>
              <a:ea typeface="Cambria"/>
              <a:cs typeface="Cambria"/>
              <a:sym typeface="Cambria"/>
            </a:endParaRPr>
          </a:p>
        </p:txBody>
      </p:sp>
      <p:sp>
        <p:nvSpPr>
          <p:cNvPr id="115" name="Google Shape;115;p16"/>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116" name="Google Shape;116;p16"/>
          <p:cNvGraphicFramePr/>
          <p:nvPr/>
        </p:nvGraphicFramePr>
        <p:xfrm>
          <a:off x="191387" y="1248784"/>
          <a:ext cx="3000000" cy="3000000"/>
        </p:xfrm>
        <a:graphic>
          <a:graphicData uri="http://schemas.openxmlformats.org/drawingml/2006/table">
            <a:tbl>
              <a:tblPr>
                <a:noFill/>
                <a:tableStyleId>{1AA9B764-2722-46F9-9172-E4EF9BCF7863}</a:tableStyleId>
              </a:tblPr>
              <a:tblGrid>
                <a:gridCol w="297700"/>
                <a:gridCol w="1648050"/>
                <a:gridCol w="850600"/>
                <a:gridCol w="1332000"/>
                <a:gridCol w="1358025"/>
                <a:gridCol w="1775625"/>
                <a:gridCol w="1477925"/>
                <a:gridCol w="3115350"/>
              </a:tblGrid>
              <a:tr h="916900">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S.N.</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Title</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Author Name &amp; Year</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Journal / Conference Name</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Dataset</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Methodology</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Challenges / Limitations</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Result / Output</a:t>
                      </a:r>
                      <a:endParaRPr sz="1400" u="none" cap="none" strike="noStrike"/>
                    </a:p>
                  </a:txBody>
                  <a:tcPr marT="12725" marB="12725" marR="25450" marL="25450" anchor="ctr">
                    <a:solidFill>
                      <a:schemeClr val="accent4"/>
                    </a:solidFill>
                  </a:tcPr>
                </a:tc>
              </a:tr>
              <a:tr h="950900">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mbria"/>
                          <a:ea typeface="Cambria"/>
                          <a:cs typeface="Cambria"/>
                          <a:sym typeface="Cambria"/>
                        </a:rPr>
                        <a:t>1</a:t>
                      </a:r>
                      <a:endParaRPr sz="1400" u="none" cap="none" strike="noStrike"/>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Machine Learning in Medicine: Review, Applications and Challenges</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Amir M. Rahmani et al., 2021</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Mathematics Journal (MDPI)</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solidFill>
                            <a:srgbClr val="000000"/>
                          </a:solidFill>
                          <a:latin typeface="Cambria"/>
                          <a:ea typeface="Cambria"/>
                          <a:cs typeface="Cambria"/>
                          <a:sym typeface="Cambria"/>
                        </a:rPr>
                        <a:t>Various healthcare datasets</a:t>
                      </a:r>
                      <a:endParaRPr b="0" i="0" sz="15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ML classification and predictive models</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Data quality and medical data privacy</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AI models improved disease prediction accuracy</a:t>
                      </a:r>
                      <a:endParaRPr b="0" i="0" sz="1400" u="none" cap="none" strike="noStrike">
                        <a:solidFill>
                          <a:srgbClr val="000000"/>
                        </a:solidFill>
                        <a:latin typeface="Cambria"/>
                        <a:ea typeface="Cambria"/>
                        <a:cs typeface="Cambria"/>
                        <a:sym typeface="Cambria"/>
                      </a:endParaRPr>
                    </a:p>
                  </a:txBody>
                  <a:tcPr marT="6350" marB="0" marR="6350" marL="6350"/>
                </a:tc>
              </a:tr>
              <a:tr h="793400">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mbria"/>
                          <a:ea typeface="Cambria"/>
                          <a:cs typeface="Cambria"/>
                          <a:sym typeface="Cambria"/>
                        </a:rPr>
                        <a:t>2</a:t>
                      </a:r>
                      <a:endParaRPr sz="1400" u="none" cap="none" strike="noStrike"/>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Role of Machine Learning in Medical Research</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500"/>
                        <a:buFont typeface="Arial"/>
                        <a:buNone/>
                      </a:pPr>
                      <a:r>
                        <a:rPr lang="en-US" sz="1500" u="none" cap="none" strike="noStrike">
                          <a:solidFill>
                            <a:srgbClr val="000000"/>
                          </a:solidFill>
                          <a:latin typeface="Cambria"/>
                          <a:ea typeface="Cambria"/>
                          <a:cs typeface="Cambria"/>
                          <a:sym typeface="Cambria"/>
                        </a:rPr>
                        <a:t>S. Sharma et al., 2021</a:t>
                      </a:r>
                      <a:endParaRPr b="0" i="0" sz="15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Computer Science Review (Elsevier)</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Electronic Health Records (EHR)</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Supervised and unsupervised learning</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Large medical data complexity</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ML models help in early disease detection</a:t>
                      </a:r>
                      <a:endParaRPr b="0" i="0" sz="1400" u="none" cap="none" strike="noStrike">
                        <a:solidFill>
                          <a:srgbClr val="000000"/>
                        </a:solidFill>
                        <a:latin typeface="Cambria"/>
                        <a:ea typeface="Cambria"/>
                        <a:cs typeface="Cambria"/>
                        <a:sym typeface="Cambria"/>
                      </a:endParaRPr>
                    </a:p>
                  </a:txBody>
                  <a:tcPr marT="6350" marB="0" marR="6350" marL="6350"/>
                </a:tc>
              </a:tr>
              <a:tr h="793400">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mbria"/>
                          <a:ea typeface="Cambria"/>
                          <a:cs typeface="Cambria"/>
                          <a:sym typeface="Cambria"/>
                        </a:rPr>
                        <a:t>3</a:t>
                      </a:r>
                      <a:endParaRPr sz="1400" u="none" cap="none" strike="noStrike"/>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Deep Learning for Medical Image Analysis</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Mina Rezaei et al., 2017</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AIME Conference</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MRI Brain Images</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Deep Convolutional Neural Networks</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High computational requirements</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Accurate brain abnormality detection</a:t>
                      </a:r>
                      <a:endParaRPr b="0" i="0" sz="1400" u="none" cap="none" strike="noStrike">
                        <a:solidFill>
                          <a:srgbClr val="000000"/>
                        </a:solidFill>
                        <a:latin typeface="Cambria"/>
                        <a:ea typeface="Cambria"/>
                        <a:cs typeface="Cambria"/>
                        <a:sym typeface="Cambria"/>
                      </a:endParaRPr>
                    </a:p>
                  </a:txBody>
                  <a:tcPr marT="6350" marB="0" marR="6350" marL="6350"/>
                </a:tc>
              </a:tr>
              <a:tr h="793400">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mbria"/>
                          <a:ea typeface="Cambria"/>
                          <a:cs typeface="Cambria"/>
                          <a:sym typeface="Cambria"/>
                        </a:rPr>
                        <a:t>4</a:t>
                      </a:r>
                      <a:endParaRPr sz="1400" u="none" cap="none" strike="noStrike"/>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Medical Image Analysis using CNN: A Review</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Syed M. Anwar et al., 2017</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IEEE / Biomedical Engineering</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Medical imaging datasets</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CNN-based image classification</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Feature extraction complexity</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High accuracy in medical diagnosis</a:t>
                      </a:r>
                      <a:endParaRPr b="0" i="0" sz="1400" u="none" cap="none" strike="noStrike">
                        <a:solidFill>
                          <a:srgbClr val="000000"/>
                        </a:solidFill>
                        <a:latin typeface="Cambria"/>
                        <a:ea typeface="Cambria"/>
                        <a:cs typeface="Cambria"/>
                        <a:sym typeface="Cambria"/>
                      </a:endParaRPr>
                    </a:p>
                  </a:txBody>
                  <a:tcPr marT="6350" marB="0" marR="6350" marL="6350"/>
                </a:tc>
              </a:tr>
              <a:tr h="1015250">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mbria"/>
                          <a:ea typeface="Cambria"/>
                          <a:cs typeface="Cambria"/>
                          <a:sym typeface="Cambria"/>
                        </a:rPr>
                        <a:t>5</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Artificial Intelligence in Medicine: A Review</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Y. Jiang et al., 2020</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Global Health Journal</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Healthcare records</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AI-based expert systems and ML</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Integration with clinical systems</a:t>
                      </a:r>
                      <a:endParaRPr b="0" i="0" sz="14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rgbClr val="000000"/>
                          </a:solidFill>
                          <a:latin typeface="Cambria"/>
                          <a:ea typeface="Cambria"/>
                          <a:cs typeface="Cambria"/>
                          <a:sym typeface="Cambria"/>
                        </a:rPr>
                        <a:t>AI improves diagnosis efficiency</a:t>
                      </a:r>
                      <a:endParaRPr b="0" i="0" sz="1400" u="none" cap="none" strike="noStrike">
                        <a:solidFill>
                          <a:srgbClr val="000000"/>
                        </a:solidFill>
                        <a:latin typeface="Cambria"/>
                        <a:ea typeface="Cambria"/>
                        <a:cs typeface="Cambria"/>
                        <a:sym typeface="Cambria"/>
                      </a:endParaRPr>
                    </a:p>
                  </a:txBody>
                  <a:tcPr marT="6350" marB="0" marR="6350" marL="635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7"/>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graphicFrame>
        <p:nvGraphicFramePr>
          <p:cNvPr id="122" name="Google Shape;122;p17"/>
          <p:cNvGraphicFramePr/>
          <p:nvPr/>
        </p:nvGraphicFramePr>
        <p:xfrm>
          <a:off x="191387" y="489095"/>
          <a:ext cx="3000000" cy="3000000"/>
        </p:xfrm>
        <a:graphic>
          <a:graphicData uri="http://schemas.openxmlformats.org/drawingml/2006/table">
            <a:tbl>
              <a:tblPr>
                <a:noFill/>
                <a:tableStyleId>{1AA9B764-2722-46F9-9172-E4EF9BCF7863}</a:tableStyleId>
              </a:tblPr>
              <a:tblGrid>
                <a:gridCol w="361500"/>
                <a:gridCol w="2073350"/>
                <a:gridCol w="1286550"/>
                <a:gridCol w="1020725"/>
                <a:gridCol w="1190850"/>
                <a:gridCol w="1977650"/>
                <a:gridCol w="1190850"/>
                <a:gridCol w="2753825"/>
              </a:tblGrid>
              <a:tr h="691425">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S.N.</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Title</a:t>
                      </a:r>
                      <a:endParaRPr b="1" sz="1400" u="none" cap="none" strike="noStrike">
                        <a:latin typeface="Cambria"/>
                        <a:ea typeface="Cambria"/>
                        <a:cs typeface="Cambria"/>
                        <a:sym typeface="Cambria"/>
                      </a:endParaRPr>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Author Name &amp; Year</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Journal / Conference Name</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Dataset</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Methodology</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Challenges / Limitations</a:t>
                      </a:r>
                      <a:endParaRPr sz="1400" u="none" cap="none" strike="noStrike"/>
                    </a:p>
                  </a:txBody>
                  <a:tcPr marT="12725" marB="12725" marR="25450" marL="25450" anchor="ctr">
                    <a:solidFill>
                      <a:schemeClr val="accent4"/>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Result / Output</a:t>
                      </a:r>
                      <a:endParaRPr sz="1400" u="none" cap="none" strike="noStrike"/>
                    </a:p>
                  </a:txBody>
                  <a:tcPr marT="12725" marB="12725" marR="25450" marL="25450" anchor="ctr">
                    <a:solidFill>
                      <a:schemeClr val="accent4"/>
                    </a:solidFill>
                  </a:tcPr>
                </a:tc>
              </a:tr>
              <a:tr h="921350">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mbria"/>
                          <a:ea typeface="Cambria"/>
                          <a:cs typeface="Cambria"/>
                          <a:sym typeface="Cambria"/>
                        </a:rPr>
                        <a:t>6</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Literature Analysis of AI in Biomedicine</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Tim Hulsen, 2022</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Annals of Translational Medicine</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PubMed biomedical datasets</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Data mining and ML analytics</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Data bias and scalability</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AI widely used in diagnosis and drug discovery</a:t>
                      </a:r>
                      <a:endParaRPr b="0" i="0" sz="1100" u="none" cap="none" strike="noStrike">
                        <a:solidFill>
                          <a:srgbClr val="000000"/>
                        </a:solidFill>
                        <a:latin typeface="Cambria"/>
                        <a:ea typeface="Cambria"/>
                        <a:cs typeface="Cambria"/>
                        <a:sym typeface="Cambria"/>
                      </a:endParaRPr>
                    </a:p>
                  </a:txBody>
                  <a:tcPr marT="6350" marB="0" marR="6350" marL="6350"/>
                </a:tc>
              </a:tr>
              <a:tr h="905800">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mbria"/>
                          <a:ea typeface="Cambria"/>
                          <a:cs typeface="Cambria"/>
                          <a:sym typeface="Cambria"/>
                        </a:rPr>
                        <a:t>7</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Machine Learning Based Heart Disease Diagnosis</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Md Manjurul Ahsan, 2021</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Healthcare Informatics Research</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UCI Heart Disease Dataset</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Decision tree, SVM, Random Forest</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Imbalanced clinical data</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Early heart disease detection accuracy improved</a:t>
                      </a:r>
                      <a:endParaRPr b="0" i="0" sz="1100" u="none" cap="none" strike="noStrike">
                        <a:solidFill>
                          <a:srgbClr val="000000"/>
                        </a:solidFill>
                        <a:latin typeface="Cambria"/>
                        <a:ea typeface="Cambria"/>
                        <a:cs typeface="Cambria"/>
                        <a:sym typeface="Cambria"/>
                      </a:endParaRPr>
                    </a:p>
                  </a:txBody>
                  <a:tcPr marT="6350" marB="0" marR="6350" marL="6350"/>
                </a:tc>
              </a:tr>
              <a:tr h="762200">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mbria"/>
                          <a:ea typeface="Cambria"/>
                          <a:cs typeface="Cambria"/>
                          <a:sym typeface="Cambria"/>
                        </a:rPr>
                        <a:t>8</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AI Frameworks for Predictive Analytics in Medicine</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M. Park et al., 2022</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Journal of Medical Internet Research</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Clinical prediction datasets</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ML predictive analytics framework</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Lack of standardized evaluation</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Improved decision support systems</a:t>
                      </a:r>
                      <a:endParaRPr b="0" i="0" sz="1100" u="none" cap="none" strike="noStrike">
                        <a:solidFill>
                          <a:srgbClr val="000000"/>
                        </a:solidFill>
                        <a:latin typeface="Cambria"/>
                        <a:ea typeface="Cambria"/>
                        <a:cs typeface="Cambria"/>
                        <a:sym typeface="Cambria"/>
                      </a:endParaRPr>
                    </a:p>
                  </a:txBody>
                  <a:tcPr marT="6350" marB="0" marR="6350" marL="6350"/>
                </a:tc>
              </a:tr>
              <a:tr h="993675">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mbria"/>
                          <a:ea typeface="Cambria"/>
                          <a:cs typeface="Cambria"/>
                          <a:sym typeface="Cambria"/>
                        </a:rPr>
                        <a:t>9</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Artificial Intelligence in Medicine Conference Proceedings</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Tucker et al., 2021</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AIME International Conference</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Biomedical datasets</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Deep learning and NLP methods</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Model transparency and interpretability</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AI improves medical decision support</a:t>
                      </a:r>
                      <a:endParaRPr b="0" i="0" sz="1100" u="none" cap="none" strike="noStrike">
                        <a:solidFill>
                          <a:srgbClr val="000000"/>
                        </a:solidFill>
                        <a:latin typeface="Cambria"/>
                        <a:ea typeface="Cambria"/>
                        <a:cs typeface="Cambria"/>
                        <a:sym typeface="Cambria"/>
                      </a:endParaRPr>
                    </a:p>
                  </a:txBody>
                  <a:tcPr marT="6350" marB="0" marR="6350" marL="6350"/>
                </a:tc>
              </a:tr>
              <a:tr h="906325">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mbria"/>
                          <a:ea typeface="Cambria"/>
                          <a:cs typeface="Cambria"/>
                          <a:sym typeface="Cambria"/>
                        </a:rPr>
                        <a:t>10</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Automated Medical Diagnosis using Machine Learning</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K. Patel et al., 2019</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IEEE International Conference</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Clinical laboratory reports</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SVM classification model</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Feature selection complexity</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85–90% classification accuracy</a:t>
                      </a:r>
                      <a:endParaRPr b="0" i="0" sz="1100" u="none" cap="none" strike="noStrike">
                        <a:solidFill>
                          <a:srgbClr val="000000"/>
                        </a:solidFill>
                        <a:latin typeface="Cambria"/>
                        <a:ea typeface="Cambria"/>
                        <a:cs typeface="Cambria"/>
                        <a:sym typeface="Cambria"/>
                      </a:endParaRPr>
                    </a:p>
                  </a:txBody>
                  <a:tcPr marT="6350" marB="0" marR="6350" marL="6350"/>
                </a:tc>
              </a:tr>
              <a:tr h="1051600">
                <a:tc>
                  <a:txBody>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rgbClr val="000000"/>
                          </a:solidFill>
                          <a:latin typeface="Cambria"/>
                          <a:ea typeface="Cambria"/>
                          <a:cs typeface="Cambria"/>
                          <a:sym typeface="Cambria"/>
                        </a:rPr>
                        <a:t>11</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OCR Based Medical Report Analysis System</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R. Gupta et al., 2020</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IEEE Access</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Scanned lab report images </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Optical Character Recognition + ML</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Poor image quality in reports</a:t>
                      </a:r>
                      <a:endParaRPr b="0" i="0" sz="1100" u="none" cap="none" strike="noStrike">
                        <a:solidFill>
                          <a:srgbClr val="000000"/>
                        </a:solidFill>
                        <a:latin typeface="Cambria"/>
                        <a:ea typeface="Cambria"/>
                        <a:cs typeface="Cambria"/>
                        <a:sym typeface="Cambria"/>
                      </a:endParaRPr>
                    </a:p>
                  </a:txBody>
                  <a:tcPr marT="6350" marB="0" marR="6350" marL="6350"/>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000000"/>
                          </a:solidFill>
                          <a:latin typeface="Cambria"/>
                          <a:ea typeface="Cambria"/>
                          <a:cs typeface="Cambria"/>
                          <a:sym typeface="Cambria"/>
                        </a:rPr>
                        <a:t>Automated extraction of medical data</a:t>
                      </a:r>
                      <a:endParaRPr b="0" i="0" sz="1100" u="none" cap="none" strike="noStrike">
                        <a:solidFill>
                          <a:srgbClr val="000000"/>
                        </a:solidFill>
                        <a:latin typeface="Cambria"/>
                        <a:ea typeface="Cambria"/>
                        <a:cs typeface="Cambria"/>
                        <a:sym typeface="Cambria"/>
                      </a:endParaRPr>
                    </a:p>
                  </a:txBody>
                  <a:tcPr marT="6350" marB="0" marR="6350" marL="6350"/>
                </a:tc>
              </a:tr>
            </a:tbl>
          </a:graphicData>
        </a:graphic>
      </p:graphicFrame>
      <p:sp>
        <p:nvSpPr>
          <p:cNvPr id="123" name="Google Shape;123;p17"/>
          <p:cNvSpPr txBox="1"/>
          <p:nvPr/>
        </p:nvSpPr>
        <p:spPr>
          <a:xfrm>
            <a:off x="191387" y="45332"/>
            <a:ext cx="11738343"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mbria"/>
                <a:ea typeface="Cambria"/>
                <a:cs typeface="Cambria"/>
                <a:sym typeface="Cambria"/>
              </a:rPr>
              <a:t>Table 1: Literature Review</a:t>
            </a:r>
            <a:endParaRPr b="1" i="0" sz="1800" u="none" cap="none" strike="noStrike">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8"/>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9" name="Google Shape;129;p18"/>
          <p:cNvSpPr txBox="1"/>
          <p:nvPr/>
        </p:nvSpPr>
        <p:spPr>
          <a:xfrm>
            <a:off x="657446" y="222988"/>
            <a:ext cx="10515600" cy="748562"/>
          </a:xfrm>
          <a:prstGeom prst="rect">
            <a:avLst/>
          </a:prstGeom>
          <a:noFill/>
          <a:ln>
            <a:noFill/>
          </a:ln>
        </p:spPr>
        <p:txBody>
          <a:bodyPr anchorCtr="0" anchor="ctr" bIns="45700" lIns="91425" spcFirstLastPara="1" rIns="91425" wrap="square" tIns="45700">
            <a:normAutofit fontScale="77500" lnSpcReduction="20000"/>
          </a:bodyPr>
          <a:lstStyle/>
          <a:p>
            <a:pPr indent="0" lvl="0" marL="0" marR="0" rtl="0" algn="l">
              <a:lnSpc>
                <a:spcPct val="90000"/>
              </a:lnSpc>
              <a:spcBef>
                <a:spcPts val="0"/>
              </a:spcBef>
              <a:spcAft>
                <a:spcPts val="0"/>
              </a:spcAft>
              <a:buClr>
                <a:schemeClr val="dk1"/>
              </a:buClr>
              <a:buSzPct val="100000"/>
              <a:buFont typeface="Cambria"/>
              <a:buNone/>
            </a:pPr>
            <a:r>
              <a:rPr b="0" i="0" lang="en-US" sz="4400" u="none" cap="none" strike="noStrike">
                <a:solidFill>
                  <a:schemeClr val="dk1"/>
                </a:solidFill>
                <a:latin typeface="Cambria"/>
                <a:ea typeface="Cambria"/>
                <a:cs typeface="Cambria"/>
                <a:sym typeface="Cambria"/>
              </a:rPr>
              <a:t>Key Insights and Research Gaps from Literature Review</a:t>
            </a:r>
            <a:endParaRPr b="0" i="0" sz="1400" u="none" cap="none" strike="noStrike">
              <a:solidFill>
                <a:srgbClr val="000000"/>
              </a:solidFill>
              <a:latin typeface="Arial"/>
              <a:ea typeface="Arial"/>
              <a:cs typeface="Arial"/>
              <a:sym typeface="Arial"/>
            </a:endParaRPr>
          </a:p>
        </p:txBody>
      </p:sp>
      <p:sp>
        <p:nvSpPr>
          <p:cNvPr id="130" name="Google Shape;130;p18"/>
          <p:cNvSpPr txBox="1"/>
          <p:nvPr/>
        </p:nvSpPr>
        <p:spPr>
          <a:xfrm>
            <a:off x="391808" y="1428874"/>
            <a:ext cx="11046900" cy="5292600"/>
          </a:xfrm>
          <a:prstGeom prst="rect">
            <a:avLst/>
          </a:prstGeom>
          <a:noFill/>
          <a:ln>
            <a:noFill/>
          </a:ln>
        </p:spPr>
        <p:txBody>
          <a:bodyPr anchorCtr="0" anchor="t" bIns="45700" lIns="91425" spcFirstLastPara="1" rIns="91425" wrap="square" tIns="45700">
            <a:noAutofit/>
          </a:bodyPr>
          <a:lstStyle/>
          <a:p>
            <a:pPr indent="-336550" lvl="0" marL="542925" rtl="0" algn="just">
              <a:lnSpc>
                <a:spcPct val="90000"/>
              </a:lnSpc>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Emotion recognition is a rapidly growing field within affective computing.</a:t>
            </a:r>
            <a:endParaRPr sz="2500">
              <a:solidFill>
                <a:schemeClr val="dk1"/>
              </a:solidFill>
              <a:latin typeface="Cambria"/>
              <a:ea typeface="Cambria"/>
              <a:cs typeface="Cambria"/>
              <a:sym typeface="Cambria"/>
            </a:endParaRPr>
          </a:p>
          <a:p>
            <a:pPr indent="-336550" lvl="0" marL="542925" rtl="0" algn="just">
              <a:lnSpc>
                <a:spcPct val="90000"/>
              </a:lnSpc>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	•	Deep learning models such as CNN and LSTM significantly improve emotion detection accuracy.</a:t>
            </a:r>
            <a:endParaRPr sz="2500">
              <a:solidFill>
                <a:schemeClr val="dk1"/>
              </a:solidFill>
              <a:latin typeface="Cambria"/>
              <a:ea typeface="Cambria"/>
              <a:cs typeface="Cambria"/>
              <a:sym typeface="Cambria"/>
            </a:endParaRPr>
          </a:p>
          <a:p>
            <a:pPr indent="-336550" lvl="0" marL="542925" rtl="0" algn="just">
              <a:lnSpc>
                <a:spcPct val="90000"/>
              </a:lnSpc>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	•	Multimodal approaches (facial, speech, behavioural) outperform single-modal systems.</a:t>
            </a:r>
            <a:endParaRPr sz="2500">
              <a:solidFill>
                <a:schemeClr val="dk1"/>
              </a:solidFill>
              <a:latin typeface="Cambria"/>
              <a:ea typeface="Cambria"/>
              <a:cs typeface="Cambria"/>
              <a:sym typeface="Cambria"/>
            </a:endParaRPr>
          </a:p>
          <a:p>
            <a:pPr indent="-336550" lvl="0" marL="542925" rtl="0" algn="just">
              <a:lnSpc>
                <a:spcPct val="90000"/>
              </a:lnSpc>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	•	AI-based mental health systems enable early detection of stress, anxiety, and depression.</a:t>
            </a:r>
            <a:endParaRPr sz="2500">
              <a:solidFill>
                <a:schemeClr val="dk1"/>
              </a:solidFill>
              <a:latin typeface="Cambria"/>
              <a:ea typeface="Cambria"/>
              <a:cs typeface="Cambria"/>
              <a:sym typeface="Cambria"/>
            </a:endParaRPr>
          </a:p>
          <a:p>
            <a:pPr indent="-336550" lvl="0" marL="542925" rtl="0" algn="just">
              <a:lnSpc>
                <a:spcPct val="90000"/>
              </a:lnSpc>
              <a:spcBef>
                <a:spcPts val="0"/>
              </a:spcBef>
              <a:spcAft>
                <a:spcPts val="0"/>
              </a:spcAft>
              <a:buClr>
                <a:schemeClr val="dk1"/>
              </a:buClr>
              <a:buSzPts val="1100"/>
              <a:buFont typeface="Arial"/>
              <a:buNone/>
            </a:pPr>
            <a:r>
              <a:t/>
            </a:r>
            <a:endParaRPr sz="2000">
              <a:solidFill>
                <a:schemeClr val="dk1"/>
              </a:solidFill>
              <a:latin typeface="Cambria"/>
              <a:ea typeface="Cambria"/>
              <a:cs typeface="Cambria"/>
              <a:sym typeface="Cambria"/>
            </a:endParaRPr>
          </a:p>
          <a:p>
            <a:pPr indent="-336550" lvl="0" marL="542925" rtl="0" algn="just">
              <a:lnSpc>
                <a:spcPct val="90000"/>
              </a:lnSpc>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Most systems use acted datasets, not real-world emotions</a:t>
            </a:r>
            <a:endParaRPr sz="2500">
              <a:solidFill>
                <a:schemeClr val="dk1"/>
              </a:solidFill>
              <a:latin typeface="Cambria"/>
              <a:ea typeface="Cambria"/>
              <a:cs typeface="Cambria"/>
              <a:sym typeface="Cambria"/>
            </a:endParaRPr>
          </a:p>
          <a:p>
            <a:pPr indent="-336550" lvl="0" marL="542925" rtl="0" algn="just">
              <a:lnSpc>
                <a:spcPct val="90000"/>
              </a:lnSpc>
              <a:spcBef>
                <a:spcPts val="0"/>
              </a:spcBef>
              <a:spcAft>
                <a:spcPts val="0"/>
              </a:spcAft>
              <a:buClr>
                <a:schemeClr val="dk1"/>
              </a:buClr>
              <a:buSzPts val="1100"/>
              <a:buFont typeface="Arial"/>
              <a:buNone/>
            </a:pPr>
            <a:r>
              <a:t/>
            </a:r>
            <a:endParaRPr sz="2500">
              <a:solidFill>
                <a:schemeClr val="dk1"/>
              </a:solidFill>
              <a:latin typeface="Cambria"/>
              <a:ea typeface="Cambria"/>
              <a:cs typeface="Cambria"/>
              <a:sym typeface="Cambria"/>
            </a:endParaRPr>
          </a:p>
          <a:p>
            <a:pPr indent="-336550" lvl="0" marL="1000125" rtl="0" algn="just">
              <a:lnSpc>
                <a:spcPct val="90000"/>
              </a:lnSpc>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•High memory and computation requirements</a:t>
            </a:r>
            <a:endParaRPr sz="2500">
              <a:solidFill>
                <a:schemeClr val="dk1"/>
              </a:solidFill>
              <a:latin typeface="Cambria"/>
              <a:ea typeface="Cambria"/>
              <a:cs typeface="Cambria"/>
              <a:sym typeface="Cambria"/>
            </a:endParaRPr>
          </a:p>
          <a:p>
            <a:pPr indent="-336550" lvl="0" marL="1000125" rtl="0" algn="just">
              <a:lnSpc>
                <a:spcPct val="90000"/>
              </a:lnSpc>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•Lack of lightweight models for local systems</a:t>
            </a:r>
            <a:endParaRPr sz="2500">
              <a:solidFill>
                <a:schemeClr val="dk1"/>
              </a:solidFill>
              <a:latin typeface="Cambria"/>
              <a:ea typeface="Cambria"/>
              <a:cs typeface="Cambria"/>
              <a:sym typeface="Cambria"/>
            </a:endParaRPr>
          </a:p>
          <a:p>
            <a:pPr indent="-336550" lvl="0" marL="1000125" rtl="0" algn="just">
              <a:lnSpc>
                <a:spcPct val="90000"/>
              </a:lnSpc>
              <a:spcBef>
                <a:spcPts val="0"/>
              </a:spcBef>
              <a:spcAft>
                <a:spcPts val="0"/>
              </a:spcAft>
              <a:buClr>
                <a:schemeClr val="dk1"/>
              </a:buClr>
              <a:buSzPts val="1100"/>
              <a:buFont typeface="Arial"/>
              <a:buNone/>
            </a:pPr>
            <a:r>
              <a:rPr lang="en-US" sz="2500">
                <a:solidFill>
                  <a:schemeClr val="dk1"/>
                </a:solidFill>
                <a:latin typeface="Cambria"/>
                <a:ea typeface="Cambria"/>
                <a:cs typeface="Cambria"/>
                <a:sym typeface="Cambria"/>
              </a:rPr>
              <a:t>•Limited integration with mental health applications</a:t>
            </a:r>
            <a:endParaRPr sz="2500">
              <a:solidFill>
                <a:schemeClr val="dk1"/>
              </a:solidFill>
              <a:latin typeface="Cambria"/>
              <a:ea typeface="Cambria"/>
              <a:cs typeface="Cambria"/>
              <a:sym typeface="Cambria"/>
            </a:endParaRPr>
          </a:p>
          <a:p>
            <a:pPr indent="-336550" lvl="0" marL="542925" rtl="0" algn="just">
              <a:lnSpc>
                <a:spcPct val="90000"/>
              </a:lnSpc>
              <a:spcBef>
                <a:spcPts val="0"/>
              </a:spcBef>
              <a:spcAft>
                <a:spcPts val="0"/>
              </a:spcAft>
              <a:buClr>
                <a:schemeClr val="dk1"/>
              </a:buClr>
              <a:buSzPts val="1100"/>
              <a:buFont typeface="Arial"/>
              <a:buNone/>
            </a:pPr>
            <a:r>
              <a:t/>
            </a:r>
            <a:endParaRPr sz="2000">
              <a:solidFill>
                <a:schemeClr val="dk1"/>
              </a:solidFill>
              <a:latin typeface="Cambria"/>
              <a:ea typeface="Cambria"/>
              <a:cs typeface="Cambria"/>
              <a:sym typeface="Cambria"/>
            </a:endParaRPr>
          </a:p>
          <a:p>
            <a:pPr indent="-336550" lvl="0" marL="542925" rtl="0" algn="just">
              <a:lnSpc>
                <a:spcPct val="90000"/>
              </a:lnSpc>
              <a:spcBef>
                <a:spcPts val="0"/>
              </a:spcBef>
              <a:spcAft>
                <a:spcPts val="0"/>
              </a:spcAft>
              <a:buClr>
                <a:schemeClr val="dk1"/>
              </a:buClr>
              <a:buSzPts val="1100"/>
              <a:buFont typeface="Arial"/>
              <a:buNone/>
            </a:pPr>
            <a:r>
              <a:t/>
            </a:r>
            <a:endParaRPr sz="2000">
              <a:solidFill>
                <a:schemeClr val="dk1"/>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9"/>
          <p:cNvSpPr txBox="1"/>
          <p:nvPr>
            <p:ph type="title"/>
          </p:nvPr>
        </p:nvSpPr>
        <p:spPr>
          <a:xfrm>
            <a:off x="794654" y="113211"/>
            <a:ext cx="11118669" cy="85435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mbria"/>
              <a:buNone/>
            </a:pPr>
            <a:r>
              <a:rPr lang="en-US" sz="3600">
                <a:latin typeface="Cambria"/>
                <a:ea typeface="Cambria"/>
                <a:cs typeface="Cambria"/>
                <a:sym typeface="Cambria"/>
              </a:rPr>
              <a:t>Distribution of Dataset into Train/Test/Validation</a:t>
            </a:r>
            <a:endParaRPr sz="3600"/>
          </a:p>
        </p:txBody>
      </p:sp>
      <p:sp>
        <p:nvSpPr>
          <p:cNvPr id="136" name="Google Shape;136;p19"/>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7" name="Google Shape;137;p19"/>
          <p:cNvSpPr txBox="1"/>
          <p:nvPr/>
        </p:nvSpPr>
        <p:spPr>
          <a:xfrm>
            <a:off x="838200" y="5943601"/>
            <a:ext cx="10974572" cy="777876"/>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Cambria"/>
                <a:ea typeface="Cambria"/>
                <a:cs typeface="Cambria"/>
                <a:sym typeface="Cambria"/>
              </a:rPr>
              <a:t>Figure 1: Dataset (</a:t>
            </a:r>
            <a:r>
              <a:rPr b="0" i="0" lang="en-US" sz="2800" u="sng" cap="none" strike="noStrike">
                <a:solidFill>
                  <a:schemeClr val="hlink"/>
                </a:solidFill>
                <a:latin typeface="Cambria"/>
                <a:ea typeface="Cambria"/>
                <a:cs typeface="Cambria"/>
                <a:sym typeface="Cambria"/>
                <a:hlinkClick r:id="rId3"/>
              </a:rPr>
              <a:t>https://www.kaggle.com</a:t>
            </a:r>
            <a:r>
              <a:rPr b="0" i="0" lang="en-US" sz="2800" u="none" cap="none" strike="noStrike">
                <a:solidFill>
                  <a:schemeClr val="dk1"/>
                </a:solidFill>
                <a:latin typeface="Cambria"/>
                <a:ea typeface="Cambria"/>
                <a:cs typeface="Cambria"/>
                <a:sym typeface="Cambria"/>
              </a:rPr>
              <a:t>).</a:t>
            </a:r>
            <a:r>
              <a:rPr b="0" i="0" lang="en-US" sz="2800" u="none" cap="none" strike="noStrike">
                <a:solidFill>
                  <a:schemeClr val="dk1"/>
                </a:solidFill>
                <a:latin typeface="Calibri"/>
                <a:ea typeface="Calibri"/>
                <a:cs typeface="Calibri"/>
                <a:sym typeface="Calibri"/>
              </a:rPr>
              <a:t> </a:t>
            </a:r>
            <a:endParaRPr b="0" i="0" sz="2400" u="none" cap="none" strike="noStrike">
              <a:solidFill>
                <a:schemeClr val="dk1"/>
              </a:solidFill>
              <a:latin typeface="Cambria"/>
              <a:ea typeface="Cambria"/>
              <a:cs typeface="Cambria"/>
              <a:sym typeface="Cambria"/>
            </a:endParaRPr>
          </a:p>
        </p:txBody>
      </p:sp>
      <p:pic>
        <p:nvPicPr>
          <p:cNvPr id="138" name="Google Shape;138;p19"/>
          <p:cNvPicPr preferRelativeResize="0"/>
          <p:nvPr/>
        </p:nvPicPr>
        <p:blipFill rotWithShape="1">
          <a:blip r:embed="rId4">
            <a:alphaModFix/>
          </a:blip>
          <a:srcRect b="0" l="0" r="0" t="0"/>
          <a:stretch/>
        </p:blipFill>
        <p:spPr>
          <a:xfrm>
            <a:off x="152400" y="1119975"/>
            <a:ext cx="11856949" cy="46907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0"/>
          <p:cNvSpPr txBox="1"/>
          <p:nvPr>
            <p:ph type="title"/>
          </p:nvPr>
        </p:nvSpPr>
        <p:spPr>
          <a:xfrm>
            <a:off x="838200" y="280066"/>
            <a:ext cx="10515600" cy="93913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Train-Test-Validation Dataset Split </a:t>
            </a:r>
            <a:endParaRPr/>
          </a:p>
        </p:txBody>
      </p:sp>
      <p:sp>
        <p:nvSpPr>
          <p:cNvPr id="144" name="Google Shape;144;p20"/>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5" name="Google Shape;145;p20"/>
          <p:cNvSpPr txBox="1"/>
          <p:nvPr/>
        </p:nvSpPr>
        <p:spPr>
          <a:xfrm>
            <a:off x="758190" y="5717716"/>
            <a:ext cx="10974572" cy="412751"/>
          </a:xfrm>
          <a:prstGeom prst="rect">
            <a:avLst/>
          </a:prstGeom>
          <a:noFill/>
          <a:ln>
            <a:noFill/>
          </a:ln>
        </p:spPr>
        <p:txBody>
          <a:bodyPr anchorCtr="0" anchor="t" bIns="45700" lIns="91425" spcFirstLastPara="1" rIns="91425" wrap="square" tIns="45700">
            <a:normAutofit lnSpcReduction="10000"/>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Cambria"/>
                <a:ea typeface="Cambria"/>
                <a:cs typeface="Cambria"/>
                <a:sym typeface="Cambria"/>
              </a:rPr>
              <a:t>Figure 2: Train-Test-Validation Dataset Split</a:t>
            </a:r>
            <a:endParaRPr b="0" i="0" sz="2400" u="none" cap="none" strike="noStrike">
              <a:solidFill>
                <a:schemeClr val="dk1"/>
              </a:solidFill>
              <a:latin typeface="Cambria"/>
              <a:ea typeface="Cambria"/>
              <a:cs typeface="Cambria"/>
              <a:sym typeface="Cambria"/>
            </a:endParaRPr>
          </a:p>
        </p:txBody>
      </p:sp>
      <p:pic>
        <p:nvPicPr>
          <p:cNvPr id="146" name="Google Shape;146;p20"/>
          <p:cNvPicPr preferRelativeResize="0"/>
          <p:nvPr/>
        </p:nvPicPr>
        <p:blipFill rotWithShape="1">
          <a:blip r:embed="rId3">
            <a:alphaModFix/>
          </a:blip>
          <a:srcRect b="0" l="0" r="0" t="0"/>
          <a:stretch/>
        </p:blipFill>
        <p:spPr>
          <a:xfrm>
            <a:off x="152400" y="1371597"/>
            <a:ext cx="5600515" cy="4193719"/>
          </a:xfrm>
          <a:prstGeom prst="rect">
            <a:avLst/>
          </a:prstGeom>
          <a:noFill/>
          <a:ln>
            <a:noFill/>
          </a:ln>
        </p:spPr>
      </p:pic>
      <p:pic>
        <p:nvPicPr>
          <p:cNvPr id="147" name="Google Shape;147;p20"/>
          <p:cNvPicPr preferRelativeResize="0"/>
          <p:nvPr/>
        </p:nvPicPr>
        <p:blipFill rotWithShape="1">
          <a:blip r:embed="rId4">
            <a:alphaModFix/>
          </a:blip>
          <a:srcRect b="0" l="0" r="0" t="0"/>
          <a:stretch/>
        </p:blipFill>
        <p:spPr>
          <a:xfrm>
            <a:off x="5905315" y="1371597"/>
            <a:ext cx="5585184" cy="419371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3" name="Google Shape;153;p21"/>
          <p:cNvSpPr txBox="1"/>
          <p:nvPr/>
        </p:nvSpPr>
        <p:spPr>
          <a:xfrm>
            <a:off x="657446" y="325858"/>
            <a:ext cx="10515600" cy="868250"/>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mbria"/>
              <a:buNone/>
            </a:pPr>
            <a:r>
              <a:rPr b="0" i="0" lang="en-US" sz="4400" u="none" cap="none" strike="noStrike">
                <a:solidFill>
                  <a:schemeClr val="dk1"/>
                </a:solidFill>
                <a:latin typeface="Cambria"/>
                <a:ea typeface="Cambria"/>
                <a:cs typeface="Cambria"/>
                <a:sym typeface="Cambria"/>
              </a:rPr>
              <a:t>About Area</a:t>
            </a:r>
            <a:endParaRPr b="0" i="0" sz="4400" u="none" cap="none" strike="noStrike">
              <a:solidFill>
                <a:schemeClr val="dk1"/>
              </a:solidFill>
              <a:latin typeface="Cambria"/>
              <a:ea typeface="Cambria"/>
              <a:cs typeface="Cambria"/>
              <a:sym typeface="Cambria"/>
            </a:endParaRPr>
          </a:p>
        </p:txBody>
      </p:sp>
      <p:sp>
        <p:nvSpPr>
          <p:cNvPr id="154" name="Google Shape;154;p21"/>
          <p:cNvSpPr txBox="1"/>
          <p:nvPr/>
        </p:nvSpPr>
        <p:spPr>
          <a:xfrm>
            <a:off x="657450" y="1369668"/>
            <a:ext cx="10515600" cy="4811100"/>
          </a:xfrm>
          <a:prstGeom prst="rect">
            <a:avLst/>
          </a:prstGeom>
          <a:noFill/>
          <a:ln>
            <a:noFill/>
          </a:ln>
        </p:spPr>
        <p:txBody>
          <a:bodyPr anchorCtr="0" anchor="t" bIns="45700" lIns="91425" spcFirstLastPara="1" rIns="91425" wrap="square" tIns="45700">
            <a:noAutofit/>
          </a:bodyPr>
          <a:lstStyle/>
          <a:p>
            <a:pPr indent="-203200" lvl="0" marL="428625" marR="0" rtl="0" algn="just">
              <a:lnSpc>
                <a:spcPct val="70000"/>
              </a:lnSpc>
              <a:spcBef>
                <a:spcPts val="0"/>
              </a:spcBef>
              <a:spcAft>
                <a:spcPts val="0"/>
              </a:spcAft>
              <a:buClr>
                <a:schemeClr val="dk1"/>
              </a:buClr>
              <a:buSzPts val="1100"/>
              <a:buFont typeface="Arial"/>
              <a:buNone/>
            </a:pPr>
            <a:r>
              <a:rPr b="0" i="0" lang="en-US" sz="1910" u="none" cap="none" strike="noStrike">
                <a:solidFill>
                  <a:schemeClr val="dk1"/>
                </a:solidFill>
                <a:latin typeface="Cambria"/>
                <a:ea typeface="Cambria"/>
                <a:cs typeface="Cambria"/>
                <a:sym typeface="Cambria"/>
              </a:rPr>
              <a:t>About the Project Area (AIME)</a:t>
            </a:r>
            <a:endParaRPr b="0" i="0" sz="1910" u="none" cap="none" strike="noStrike">
              <a:solidFill>
                <a:schemeClr val="dk1"/>
              </a:solidFill>
              <a:latin typeface="Cambria"/>
              <a:ea typeface="Cambria"/>
              <a:cs typeface="Cambria"/>
              <a:sym typeface="Cambria"/>
            </a:endParaRPr>
          </a:p>
          <a:p>
            <a:pPr indent="-203200" lvl="0" marL="428625" marR="0" rtl="0" algn="just">
              <a:lnSpc>
                <a:spcPct val="70000"/>
              </a:lnSpc>
              <a:spcBef>
                <a:spcPts val="0"/>
              </a:spcBef>
              <a:spcAft>
                <a:spcPts val="0"/>
              </a:spcAft>
              <a:buClr>
                <a:schemeClr val="dk1"/>
              </a:buClr>
              <a:buSzPts val="1100"/>
              <a:buFont typeface="Arial"/>
              <a:buNone/>
            </a:pPr>
            <a:r>
              <a:t/>
            </a:r>
            <a:endParaRPr sz="2010">
              <a:solidFill>
                <a:schemeClr val="dk1"/>
              </a:solidFill>
              <a:latin typeface="Cambria"/>
              <a:ea typeface="Cambria"/>
              <a:cs typeface="Cambria"/>
              <a:sym typeface="Cambria"/>
            </a:endParaRPr>
          </a:p>
          <a:p>
            <a:pPr indent="-203200" lvl="0" marL="428625" marR="0" rtl="0" algn="l">
              <a:lnSpc>
                <a:spcPct val="70000"/>
              </a:lnSpc>
              <a:spcBef>
                <a:spcPts val="0"/>
              </a:spcBef>
              <a:spcAft>
                <a:spcPts val="0"/>
              </a:spcAft>
              <a:buClr>
                <a:schemeClr val="dk1"/>
              </a:buClr>
              <a:buSzPts val="1100"/>
              <a:buFont typeface="Arial"/>
              <a:buNone/>
            </a:pPr>
            <a:r>
              <a:rPr b="0" i="0" lang="en-US" sz="2010" u="none" cap="none" strike="noStrike">
                <a:solidFill>
                  <a:schemeClr val="dk1"/>
                </a:solidFill>
                <a:latin typeface="Cambria"/>
                <a:ea typeface="Cambria"/>
                <a:cs typeface="Cambria"/>
                <a:sym typeface="Cambria"/>
              </a:rPr>
              <a:t>Mental health and emotional well-being are major concerns in modern society.</a:t>
            </a:r>
            <a:endParaRPr b="0" i="0" sz="2010" u="none" cap="none" strike="noStrike">
              <a:solidFill>
                <a:schemeClr val="dk1"/>
              </a:solidFill>
              <a:latin typeface="Cambria"/>
              <a:ea typeface="Cambria"/>
              <a:cs typeface="Cambria"/>
              <a:sym typeface="Cambria"/>
            </a:endParaRPr>
          </a:p>
          <a:p>
            <a:pPr indent="0" lvl="0" marL="225425" marR="0" rtl="0" algn="l">
              <a:lnSpc>
                <a:spcPct val="70000"/>
              </a:lnSpc>
              <a:spcBef>
                <a:spcPts val="0"/>
              </a:spcBef>
              <a:spcAft>
                <a:spcPts val="0"/>
              </a:spcAft>
              <a:buClr>
                <a:schemeClr val="dk1"/>
              </a:buClr>
              <a:buSzPts val="1100"/>
              <a:buFont typeface="Arial"/>
              <a:buNone/>
            </a:pPr>
            <a:r>
              <a:rPr b="0" i="0" lang="en-US" sz="2010" u="none" cap="none" strike="noStrike">
                <a:solidFill>
                  <a:schemeClr val="dk1"/>
                </a:solidFill>
                <a:latin typeface="Cambria"/>
                <a:ea typeface="Cambria"/>
                <a:cs typeface="Cambria"/>
                <a:sym typeface="Cambria"/>
              </a:rPr>
              <a:t>Factors such as academic pressure, workplace stress, social isolation, and digital overload affect</a:t>
            </a:r>
            <a:r>
              <a:rPr b="0" i="0" lang="en-US" sz="2010" u="none" cap="none" strike="noStrike">
                <a:solidFill>
                  <a:schemeClr val="dk1"/>
                </a:solidFill>
                <a:latin typeface="Cambria"/>
                <a:ea typeface="Cambria"/>
                <a:cs typeface="Cambria"/>
                <a:sym typeface="Cambria"/>
              </a:rPr>
              <a:t> </a:t>
            </a:r>
            <a:r>
              <a:rPr b="0" i="0" lang="en-US" sz="2010" u="none" cap="none" strike="noStrike">
                <a:solidFill>
                  <a:schemeClr val="dk1"/>
                </a:solidFill>
                <a:latin typeface="Cambria"/>
                <a:ea typeface="Cambria"/>
                <a:cs typeface="Cambria"/>
                <a:sym typeface="Cambria"/>
              </a:rPr>
              <a:t>people’s emotional state.</a:t>
            </a:r>
            <a:endParaRPr b="0" i="0" sz="2010" u="none" cap="none" strike="noStrike">
              <a:solidFill>
                <a:schemeClr val="dk1"/>
              </a:solidFill>
              <a:latin typeface="Cambria"/>
              <a:ea typeface="Cambria"/>
              <a:cs typeface="Cambria"/>
              <a:sym typeface="Cambria"/>
            </a:endParaRPr>
          </a:p>
          <a:p>
            <a:pPr indent="-203200" lvl="0" marL="428625" marR="0" rtl="0" algn="just">
              <a:lnSpc>
                <a:spcPct val="70000"/>
              </a:lnSpc>
              <a:spcBef>
                <a:spcPts val="0"/>
              </a:spcBef>
              <a:spcAft>
                <a:spcPts val="0"/>
              </a:spcAft>
              <a:buClr>
                <a:schemeClr val="dk1"/>
              </a:buClr>
              <a:buSzPts val="1100"/>
              <a:buFont typeface="Arial"/>
              <a:buNone/>
            </a:pPr>
            <a:r>
              <a:t/>
            </a:r>
            <a:endParaRPr b="0" i="0" sz="2010" u="none" cap="none" strike="noStrike">
              <a:solidFill>
                <a:schemeClr val="dk1"/>
              </a:solidFill>
              <a:latin typeface="Cambria"/>
              <a:ea typeface="Cambria"/>
              <a:cs typeface="Cambria"/>
              <a:sym typeface="Cambria"/>
            </a:endParaRPr>
          </a:p>
          <a:p>
            <a:pPr indent="-203200" lvl="0" marL="428625" marR="0" rtl="0" algn="just">
              <a:lnSpc>
                <a:spcPct val="70000"/>
              </a:lnSpc>
              <a:spcBef>
                <a:spcPts val="0"/>
              </a:spcBef>
              <a:spcAft>
                <a:spcPts val="0"/>
              </a:spcAft>
              <a:buClr>
                <a:schemeClr val="dk1"/>
              </a:buClr>
              <a:buSzPts val="1100"/>
              <a:buFont typeface="Arial"/>
              <a:buNone/>
            </a:pPr>
            <a:r>
              <a:rPr b="0" i="0" lang="en-US" sz="2010" u="none" cap="none" strike="noStrike">
                <a:solidFill>
                  <a:schemeClr val="dk1"/>
                </a:solidFill>
                <a:latin typeface="Cambria"/>
                <a:ea typeface="Cambria"/>
                <a:cs typeface="Cambria"/>
                <a:sym typeface="Cambria"/>
              </a:rPr>
              <a:t>Many individuals find it difficult to identify, understand, and manage their emotions.</a:t>
            </a:r>
            <a:endParaRPr b="0" i="0" sz="2010" u="none" cap="none" strike="noStrike">
              <a:solidFill>
                <a:schemeClr val="dk1"/>
              </a:solidFill>
              <a:latin typeface="Cambria"/>
              <a:ea typeface="Cambria"/>
              <a:cs typeface="Cambria"/>
              <a:sym typeface="Cambria"/>
            </a:endParaRPr>
          </a:p>
          <a:p>
            <a:pPr indent="0" lvl="0" marL="225425" marR="0" rtl="0" algn="just">
              <a:lnSpc>
                <a:spcPct val="70000"/>
              </a:lnSpc>
              <a:spcBef>
                <a:spcPts val="0"/>
              </a:spcBef>
              <a:spcAft>
                <a:spcPts val="0"/>
              </a:spcAft>
              <a:buClr>
                <a:schemeClr val="dk1"/>
              </a:buClr>
              <a:buSzPts val="1100"/>
              <a:buFont typeface="Arial"/>
              <a:buNone/>
            </a:pPr>
            <a:r>
              <a:rPr b="0" i="0" lang="en-US" sz="2010" u="none" cap="none" strike="noStrike">
                <a:solidFill>
                  <a:schemeClr val="dk1"/>
                </a:solidFill>
                <a:latin typeface="Cambria"/>
                <a:ea typeface="Cambria"/>
                <a:cs typeface="Cambria"/>
                <a:sym typeface="Cambria"/>
              </a:rPr>
              <a:t>Traditional mental health evaluation methods rely on surveys, questionnaires, or clinical consultations, which do not always capture real-time emotions.</a:t>
            </a:r>
            <a:endParaRPr b="0" i="0" sz="2010" u="none" cap="none" strike="noStrike">
              <a:solidFill>
                <a:schemeClr val="dk1"/>
              </a:solidFill>
              <a:latin typeface="Cambria"/>
              <a:ea typeface="Cambria"/>
              <a:cs typeface="Cambria"/>
              <a:sym typeface="Cambria"/>
            </a:endParaRPr>
          </a:p>
          <a:p>
            <a:pPr indent="0" lvl="0" marL="225425" marR="0" rtl="0" algn="just">
              <a:lnSpc>
                <a:spcPct val="70000"/>
              </a:lnSpc>
              <a:spcBef>
                <a:spcPts val="0"/>
              </a:spcBef>
              <a:spcAft>
                <a:spcPts val="0"/>
              </a:spcAft>
              <a:buClr>
                <a:schemeClr val="dk1"/>
              </a:buClr>
              <a:buSzPts val="1100"/>
              <a:buFont typeface="Arial"/>
              <a:buNone/>
            </a:pPr>
            <a:r>
              <a:rPr b="0" i="0" lang="en-US" sz="2010" u="none" cap="none" strike="noStrike">
                <a:solidFill>
                  <a:schemeClr val="dk1"/>
                </a:solidFill>
                <a:latin typeface="Cambria"/>
                <a:ea typeface="Cambria"/>
                <a:cs typeface="Cambria"/>
                <a:sym typeface="Cambria"/>
              </a:rPr>
              <a:t>Artificial Intelligence and Affective Computing provide new opportunities to understand human emotions through technology.</a:t>
            </a:r>
            <a:endParaRPr b="0" i="0" sz="2010" u="none" cap="none" strike="noStrike">
              <a:solidFill>
                <a:schemeClr val="dk1"/>
              </a:solidFill>
              <a:latin typeface="Cambria"/>
              <a:ea typeface="Cambria"/>
              <a:cs typeface="Cambria"/>
              <a:sym typeface="Cambria"/>
            </a:endParaRPr>
          </a:p>
          <a:p>
            <a:pPr indent="-203200" lvl="0" marL="428625" marR="0" rtl="0" algn="just">
              <a:lnSpc>
                <a:spcPct val="70000"/>
              </a:lnSpc>
              <a:spcBef>
                <a:spcPts val="0"/>
              </a:spcBef>
              <a:spcAft>
                <a:spcPts val="0"/>
              </a:spcAft>
              <a:buClr>
                <a:schemeClr val="dk1"/>
              </a:buClr>
              <a:buSzPts val="1100"/>
              <a:buFont typeface="Arial"/>
              <a:buNone/>
            </a:pPr>
            <a:r>
              <a:t/>
            </a:r>
            <a:endParaRPr b="0" i="0" sz="2010" u="none" cap="none" strike="noStrike">
              <a:solidFill>
                <a:schemeClr val="dk1"/>
              </a:solidFill>
              <a:latin typeface="Cambria"/>
              <a:ea typeface="Cambria"/>
              <a:cs typeface="Cambria"/>
              <a:sym typeface="Cambria"/>
            </a:endParaRPr>
          </a:p>
          <a:p>
            <a:pPr indent="0" lvl="0" marL="225425" marR="0" rtl="0" algn="just">
              <a:lnSpc>
                <a:spcPct val="70000"/>
              </a:lnSpc>
              <a:spcBef>
                <a:spcPts val="0"/>
              </a:spcBef>
              <a:spcAft>
                <a:spcPts val="0"/>
              </a:spcAft>
              <a:buClr>
                <a:schemeClr val="dk1"/>
              </a:buClr>
              <a:buSzPts val="1100"/>
              <a:buFont typeface="Arial"/>
              <a:buNone/>
            </a:pPr>
            <a:r>
              <a:rPr b="0" i="0" lang="en-US" sz="2010" u="none" cap="none" strike="noStrike">
                <a:solidFill>
                  <a:schemeClr val="dk1"/>
                </a:solidFill>
                <a:latin typeface="Cambria"/>
                <a:ea typeface="Cambria"/>
                <a:cs typeface="Cambria"/>
                <a:sym typeface="Cambria"/>
              </a:rPr>
              <a:t>Technologies such as facial expression recognition, speech emotion analysis, and behavioral monitoring can help detect emotional states.</a:t>
            </a:r>
            <a:endParaRPr b="0" i="0" sz="2010" u="none" cap="none" strike="noStrike">
              <a:solidFill>
                <a:schemeClr val="dk1"/>
              </a:solidFill>
              <a:latin typeface="Cambria"/>
              <a:ea typeface="Cambria"/>
              <a:cs typeface="Cambria"/>
              <a:sym typeface="Cambria"/>
            </a:endParaRPr>
          </a:p>
          <a:p>
            <a:pPr indent="-203200" lvl="0" marL="428625" marR="0" rtl="0" algn="just">
              <a:lnSpc>
                <a:spcPct val="70000"/>
              </a:lnSpc>
              <a:spcBef>
                <a:spcPts val="0"/>
              </a:spcBef>
              <a:spcAft>
                <a:spcPts val="0"/>
              </a:spcAft>
              <a:buClr>
                <a:schemeClr val="dk1"/>
              </a:buClr>
              <a:buSzPts val="1100"/>
              <a:buFont typeface="Arial"/>
              <a:buNone/>
            </a:pPr>
            <a:r>
              <a:t/>
            </a:r>
            <a:endParaRPr b="0" i="0" sz="2010" u="none" cap="none" strike="noStrike">
              <a:solidFill>
                <a:schemeClr val="dk1"/>
              </a:solidFill>
              <a:latin typeface="Cambria"/>
              <a:ea typeface="Cambria"/>
              <a:cs typeface="Cambria"/>
              <a:sym typeface="Cambria"/>
            </a:endParaRPr>
          </a:p>
          <a:p>
            <a:pPr indent="-203200" lvl="0" marL="428625" marR="0" rtl="0" algn="just">
              <a:lnSpc>
                <a:spcPct val="70000"/>
              </a:lnSpc>
              <a:spcBef>
                <a:spcPts val="0"/>
              </a:spcBef>
              <a:spcAft>
                <a:spcPts val="0"/>
              </a:spcAft>
              <a:buClr>
                <a:schemeClr val="dk1"/>
              </a:buClr>
              <a:buSzPts val="1100"/>
              <a:buFont typeface="Arial"/>
              <a:buNone/>
            </a:pPr>
            <a:r>
              <a:rPr b="0" i="0" lang="en-US" sz="2010" u="none" cap="none" strike="noStrike">
                <a:solidFill>
                  <a:schemeClr val="dk1"/>
                </a:solidFill>
                <a:latin typeface="Cambria"/>
                <a:ea typeface="Cambria"/>
                <a:cs typeface="Cambria"/>
                <a:sym typeface="Cambria"/>
              </a:rPr>
              <a:t>However, many existing systems use only one data source, which limits their accuracy.</a:t>
            </a:r>
            <a:endParaRPr b="0" i="0" sz="2010" u="none" cap="none" strike="noStrike">
              <a:solidFill>
                <a:schemeClr val="dk1"/>
              </a:solidFill>
              <a:latin typeface="Cambria"/>
              <a:ea typeface="Cambria"/>
              <a:cs typeface="Cambria"/>
              <a:sym typeface="Cambria"/>
            </a:endParaRPr>
          </a:p>
          <a:p>
            <a:pPr indent="-203200" lvl="0" marL="428625" marR="0" rtl="0" algn="just">
              <a:lnSpc>
                <a:spcPct val="70000"/>
              </a:lnSpc>
              <a:spcBef>
                <a:spcPts val="0"/>
              </a:spcBef>
              <a:spcAft>
                <a:spcPts val="0"/>
              </a:spcAft>
              <a:buClr>
                <a:schemeClr val="dk1"/>
              </a:buClr>
              <a:buSzPts val="1100"/>
              <a:buFont typeface="Arial"/>
              <a:buNone/>
            </a:pPr>
            <a:r>
              <a:rPr b="0" i="0" lang="en-US" sz="2010" u="none" cap="none" strike="noStrike">
                <a:solidFill>
                  <a:schemeClr val="dk1"/>
                </a:solidFill>
                <a:latin typeface="Cambria"/>
                <a:ea typeface="Cambria"/>
                <a:cs typeface="Cambria"/>
                <a:sym typeface="Cambria"/>
              </a:rPr>
              <a:t>Human emotions are complex and require multimodal analysis for better understanding.</a:t>
            </a:r>
            <a:endParaRPr b="0" i="0" sz="2010" u="none" cap="none" strike="noStrike">
              <a:solidFill>
                <a:schemeClr val="dk1"/>
              </a:solidFill>
              <a:latin typeface="Cambria"/>
              <a:ea typeface="Cambria"/>
              <a:cs typeface="Cambria"/>
              <a:sym typeface="Cambr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ph type="title"/>
          </p:nvPr>
        </p:nvSpPr>
        <p:spPr>
          <a:xfrm>
            <a:off x="841766" y="429357"/>
            <a:ext cx="10335569" cy="7858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Proposed Methodology</a:t>
            </a:r>
            <a:endParaRPr/>
          </a:p>
        </p:txBody>
      </p:sp>
      <p:sp>
        <p:nvSpPr>
          <p:cNvPr id="160" name="Google Shape;160;p22"/>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1" name="Google Shape;161;p22"/>
          <p:cNvSpPr txBox="1"/>
          <p:nvPr/>
        </p:nvSpPr>
        <p:spPr>
          <a:xfrm>
            <a:off x="2210935" y="6113721"/>
            <a:ext cx="7597229" cy="607756"/>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Cambria"/>
                <a:ea typeface="Cambria"/>
                <a:cs typeface="Cambria"/>
                <a:sym typeface="Cambria"/>
              </a:rPr>
              <a:t>Figure 4: Proposed Methodology</a:t>
            </a:r>
            <a:endParaRPr b="0" i="0" sz="2400" u="none" cap="none" strike="noStrike">
              <a:solidFill>
                <a:schemeClr val="dk1"/>
              </a:solidFill>
              <a:latin typeface="Cambria"/>
              <a:ea typeface="Cambria"/>
              <a:cs typeface="Cambria"/>
              <a:sym typeface="Cambria"/>
            </a:endParaRPr>
          </a:p>
        </p:txBody>
      </p:sp>
      <p:sp>
        <p:nvSpPr>
          <p:cNvPr id="162" name="Google Shape;162;p22"/>
          <p:cNvSpPr txBox="1"/>
          <p:nvPr/>
        </p:nvSpPr>
        <p:spPr>
          <a:xfrm>
            <a:off x="423375" y="1644175"/>
            <a:ext cx="11799300" cy="361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chemeClr val="dk1"/>
                </a:solidFill>
                <a:latin typeface="Calibri"/>
                <a:ea typeface="Calibri"/>
                <a:cs typeface="Calibri"/>
                <a:sym typeface="Calibri"/>
              </a:rPr>
              <a:t>Dataset collection (RAVDESS)</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•Video frame extraction</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•Face detection using OpenCV</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•Feature learning using MobileNetV2</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•Model training &amp; validation</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•Emotion prediction</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•Performance evaluation</a:t>
            </a:r>
            <a:endParaRPr sz="2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txBox="1"/>
          <p:nvPr>
            <p:ph type="title"/>
          </p:nvPr>
        </p:nvSpPr>
        <p:spPr>
          <a:xfrm>
            <a:off x="838200" y="1897627"/>
            <a:ext cx="10515600" cy="3158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Result Analysis</a:t>
            </a:r>
            <a:endParaRPr i="1" u="sng"/>
          </a:p>
        </p:txBody>
      </p:sp>
      <p:sp>
        <p:nvSpPr>
          <p:cNvPr id="168" name="Google Shape;168;p23"/>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4"/>
          <p:cNvSpPr txBox="1"/>
          <p:nvPr>
            <p:ph type="title"/>
          </p:nvPr>
        </p:nvSpPr>
        <p:spPr>
          <a:xfrm>
            <a:off x="838200" y="365127"/>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1. Result-1</a:t>
            </a:r>
            <a:endParaRPr/>
          </a:p>
        </p:txBody>
      </p:sp>
      <p:sp>
        <p:nvSpPr>
          <p:cNvPr id="175" name="Google Shape;175;p24"/>
          <p:cNvSpPr txBox="1"/>
          <p:nvPr>
            <p:ph idx="12" type="sldNum"/>
          </p:nvPr>
        </p:nvSpPr>
        <p:spPr>
          <a:xfrm>
            <a:off x="8610600" y="6356352"/>
            <a:ext cx="27432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pic>
        <p:nvPicPr>
          <p:cNvPr id="176" name="Google Shape;176;p24"/>
          <p:cNvPicPr preferRelativeResize="0"/>
          <p:nvPr/>
        </p:nvPicPr>
        <p:blipFill rotWithShape="1">
          <a:blip r:embed="rId3">
            <a:alphaModFix/>
          </a:blip>
          <a:srcRect b="0" l="0" r="0" t="0"/>
          <a:stretch/>
        </p:blipFill>
        <p:spPr>
          <a:xfrm>
            <a:off x="152400" y="1843225"/>
            <a:ext cx="6063426" cy="4862374"/>
          </a:xfrm>
          <a:prstGeom prst="rect">
            <a:avLst/>
          </a:prstGeom>
          <a:noFill/>
          <a:ln>
            <a:noFill/>
          </a:ln>
        </p:spPr>
      </p:pic>
      <p:pic>
        <p:nvPicPr>
          <p:cNvPr id="177" name="Google Shape;177;p24"/>
          <p:cNvPicPr preferRelativeResize="0"/>
          <p:nvPr/>
        </p:nvPicPr>
        <p:blipFill rotWithShape="1">
          <a:blip r:embed="rId4">
            <a:alphaModFix/>
          </a:blip>
          <a:srcRect b="0" l="0" r="0" t="0"/>
          <a:stretch/>
        </p:blipFill>
        <p:spPr>
          <a:xfrm>
            <a:off x="6368225" y="1843225"/>
            <a:ext cx="5671376" cy="46029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5"/>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3" name="Google Shape;183;p25"/>
          <p:cNvSpPr txBox="1"/>
          <p:nvPr>
            <p:ph type="title"/>
          </p:nvPr>
        </p:nvSpPr>
        <p:spPr>
          <a:xfrm>
            <a:off x="845820" y="262890"/>
            <a:ext cx="11167110" cy="849984"/>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200"/>
              <a:buFont typeface="Cambria"/>
              <a:buNone/>
            </a:pPr>
            <a:r>
              <a:rPr lang="en-US" sz="3200">
                <a:latin typeface="Cambria"/>
                <a:ea typeface="Cambria"/>
                <a:cs typeface="Cambria"/>
                <a:sym typeface="Cambria"/>
              </a:rPr>
              <a:t>2. Classification Report</a:t>
            </a:r>
            <a:endParaRPr sz="3200"/>
          </a:p>
        </p:txBody>
      </p:sp>
      <p:sp>
        <p:nvSpPr>
          <p:cNvPr id="184" name="Google Shape;184;p25"/>
          <p:cNvSpPr txBox="1"/>
          <p:nvPr/>
        </p:nvSpPr>
        <p:spPr>
          <a:xfrm>
            <a:off x="3519728" y="1319236"/>
            <a:ext cx="5518297" cy="36933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mbria"/>
                <a:ea typeface="Cambria"/>
                <a:cs typeface="Cambria"/>
                <a:sym typeface="Cambria"/>
              </a:rPr>
              <a:t>Table 5: Classification Performance on Test Dataset</a:t>
            </a:r>
            <a:endParaRPr b="0" i="0" sz="1800" u="none" cap="none" strike="noStrike">
              <a:solidFill>
                <a:schemeClr val="dk1"/>
              </a:solidFill>
              <a:latin typeface="Cambria"/>
              <a:ea typeface="Cambria"/>
              <a:cs typeface="Cambria"/>
              <a:sym typeface="Cambria"/>
            </a:endParaRPr>
          </a:p>
        </p:txBody>
      </p:sp>
      <p:sp>
        <p:nvSpPr>
          <p:cNvPr id="185" name="Google Shape;185;p25"/>
          <p:cNvSpPr txBox="1"/>
          <p:nvPr>
            <p:ph idx="1" type="body"/>
          </p:nvPr>
        </p:nvSpPr>
        <p:spPr>
          <a:xfrm>
            <a:off x="838200" y="1846788"/>
            <a:ext cx="10515600" cy="4351200"/>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1100"/>
              <a:buFont typeface="Arial"/>
              <a:buNone/>
            </a:pPr>
            <a:r>
              <a:t/>
            </a:r>
            <a:endParaRPr/>
          </a:p>
          <a:p>
            <a:pPr indent="-50800" lvl="0" marL="228600" rtl="0" algn="l">
              <a:lnSpc>
                <a:spcPct val="90000"/>
              </a:lnSpc>
              <a:spcBef>
                <a:spcPts val="0"/>
              </a:spcBef>
              <a:spcAft>
                <a:spcPts val="0"/>
              </a:spcAft>
              <a:buClr>
                <a:schemeClr val="dk1"/>
              </a:buClr>
              <a:buSzPts val="2800"/>
              <a:buNone/>
            </a:pPr>
            <a:r>
              <a:t/>
            </a:r>
            <a:endParaRPr/>
          </a:p>
        </p:txBody>
      </p:sp>
      <p:pic>
        <p:nvPicPr>
          <p:cNvPr id="186" name="Google Shape;186;p25"/>
          <p:cNvPicPr preferRelativeResize="0"/>
          <p:nvPr/>
        </p:nvPicPr>
        <p:blipFill rotWithShape="1">
          <a:blip r:embed="rId3">
            <a:alphaModFix/>
          </a:blip>
          <a:srcRect b="0" l="0" r="0" t="0"/>
          <a:stretch/>
        </p:blipFill>
        <p:spPr>
          <a:xfrm>
            <a:off x="548600" y="1894925"/>
            <a:ext cx="5405476" cy="4244025"/>
          </a:xfrm>
          <a:prstGeom prst="rect">
            <a:avLst/>
          </a:prstGeom>
          <a:noFill/>
          <a:ln>
            <a:noFill/>
          </a:ln>
        </p:spPr>
      </p:pic>
      <p:pic>
        <p:nvPicPr>
          <p:cNvPr id="187" name="Google Shape;187;p25"/>
          <p:cNvPicPr preferRelativeResize="0"/>
          <p:nvPr/>
        </p:nvPicPr>
        <p:blipFill rotWithShape="1">
          <a:blip r:embed="rId4">
            <a:alphaModFix/>
          </a:blip>
          <a:srcRect b="0" l="0" r="0" t="0"/>
          <a:stretch/>
        </p:blipFill>
        <p:spPr>
          <a:xfrm>
            <a:off x="6062350" y="1869825"/>
            <a:ext cx="5518300" cy="43053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6"/>
          <p:cNvSpPr txBox="1"/>
          <p:nvPr>
            <p:ph type="title"/>
          </p:nvPr>
        </p:nvSpPr>
        <p:spPr>
          <a:xfrm>
            <a:off x="838200" y="337747"/>
            <a:ext cx="10515600" cy="6874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mbria"/>
              <a:buNone/>
            </a:pPr>
            <a:r>
              <a:rPr lang="en-US">
                <a:latin typeface="Cambria"/>
                <a:ea typeface="Cambria"/>
                <a:cs typeface="Cambria"/>
                <a:sym typeface="Cambria"/>
              </a:rPr>
              <a:t>3. ROC Curve</a:t>
            </a:r>
            <a:endParaRPr/>
          </a:p>
        </p:txBody>
      </p:sp>
      <p:sp>
        <p:nvSpPr>
          <p:cNvPr id="193" name="Google Shape;193;p26"/>
          <p:cNvSpPr txBox="1"/>
          <p:nvPr/>
        </p:nvSpPr>
        <p:spPr>
          <a:xfrm>
            <a:off x="786809" y="5892946"/>
            <a:ext cx="10721947" cy="494809"/>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Cambria"/>
                <a:ea typeface="Cambria"/>
                <a:cs typeface="Cambria"/>
                <a:sym typeface="Cambria"/>
              </a:rPr>
              <a:t>Figure 6: ROC Curve</a:t>
            </a:r>
            <a:r>
              <a:rPr b="0" i="0" lang="en-US" sz="2800" u="none" cap="none" strike="noStrike">
                <a:solidFill>
                  <a:schemeClr val="dk1"/>
                </a:solidFill>
                <a:latin typeface="Calibri"/>
                <a:ea typeface="Calibri"/>
                <a:cs typeface="Calibri"/>
                <a:sym typeface="Calibri"/>
              </a:rPr>
              <a:t> </a:t>
            </a:r>
            <a:endParaRPr b="0" i="0" sz="2400" u="none" cap="none" strike="noStrike">
              <a:solidFill>
                <a:schemeClr val="dk1"/>
              </a:solidFill>
              <a:latin typeface="Cambria"/>
              <a:ea typeface="Cambria"/>
              <a:cs typeface="Cambria"/>
              <a:sym typeface="Cambria"/>
            </a:endParaRPr>
          </a:p>
        </p:txBody>
      </p:sp>
      <p:pic>
        <p:nvPicPr>
          <p:cNvPr id="194" name="Google Shape;194;p26"/>
          <p:cNvPicPr preferRelativeResize="0"/>
          <p:nvPr/>
        </p:nvPicPr>
        <p:blipFill rotWithShape="1">
          <a:blip r:embed="rId3">
            <a:alphaModFix/>
          </a:blip>
          <a:srcRect b="0" l="0" r="0" t="0"/>
          <a:stretch/>
        </p:blipFill>
        <p:spPr>
          <a:xfrm>
            <a:off x="152400" y="1177643"/>
            <a:ext cx="6083870" cy="4562903"/>
          </a:xfrm>
          <a:prstGeom prst="rect">
            <a:avLst/>
          </a:prstGeom>
          <a:noFill/>
          <a:ln>
            <a:noFill/>
          </a:ln>
        </p:spPr>
      </p:pic>
      <p:pic>
        <p:nvPicPr>
          <p:cNvPr id="195" name="Google Shape;195;p26"/>
          <p:cNvPicPr preferRelativeResize="0"/>
          <p:nvPr/>
        </p:nvPicPr>
        <p:blipFill rotWithShape="1">
          <a:blip r:embed="rId4">
            <a:alphaModFix/>
          </a:blip>
          <a:srcRect b="0" l="0" r="0" t="0"/>
          <a:stretch/>
        </p:blipFill>
        <p:spPr>
          <a:xfrm>
            <a:off x="6388675" y="1177650"/>
            <a:ext cx="5650925" cy="4396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7"/>
          <p:cNvSpPr txBox="1"/>
          <p:nvPr>
            <p:ph type="title"/>
          </p:nvPr>
        </p:nvSpPr>
        <p:spPr>
          <a:xfrm>
            <a:off x="838200" y="303457"/>
            <a:ext cx="10900410" cy="68749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mbria"/>
              <a:buNone/>
            </a:pPr>
            <a:r>
              <a:rPr lang="en-US">
                <a:latin typeface="Cambria"/>
                <a:ea typeface="Cambria"/>
                <a:cs typeface="Cambria"/>
                <a:sym typeface="Cambria"/>
              </a:rPr>
              <a:t>4. Accuracy and Loss Curve</a:t>
            </a:r>
            <a:endParaRPr/>
          </a:p>
        </p:txBody>
      </p:sp>
      <p:sp>
        <p:nvSpPr>
          <p:cNvPr id="201" name="Google Shape;201;p27"/>
          <p:cNvSpPr txBox="1"/>
          <p:nvPr>
            <p:ph idx="12" type="sldNum"/>
          </p:nvPr>
        </p:nvSpPr>
        <p:spPr>
          <a:xfrm>
            <a:off x="8610600" y="6258795"/>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2" name="Google Shape;202;p27"/>
          <p:cNvSpPr txBox="1"/>
          <p:nvPr/>
        </p:nvSpPr>
        <p:spPr>
          <a:xfrm>
            <a:off x="994410" y="5865431"/>
            <a:ext cx="4678382" cy="494809"/>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Cambria"/>
                <a:ea typeface="Cambria"/>
                <a:cs typeface="Cambria"/>
                <a:sym typeface="Cambria"/>
              </a:rPr>
              <a:t>Figure 7: Accuracy Curve</a:t>
            </a:r>
            <a:r>
              <a:rPr b="0" i="0" lang="en-US" sz="2800" u="none" cap="none" strike="noStrike">
                <a:solidFill>
                  <a:schemeClr val="dk1"/>
                </a:solidFill>
                <a:latin typeface="Calibri"/>
                <a:ea typeface="Calibri"/>
                <a:cs typeface="Calibri"/>
                <a:sym typeface="Calibri"/>
              </a:rPr>
              <a:t> </a:t>
            </a:r>
            <a:endParaRPr b="0" i="0" sz="2400" u="none" cap="none" strike="noStrike">
              <a:solidFill>
                <a:schemeClr val="dk1"/>
              </a:solidFill>
              <a:latin typeface="Cambria"/>
              <a:ea typeface="Cambria"/>
              <a:cs typeface="Cambria"/>
              <a:sym typeface="Cambria"/>
            </a:endParaRPr>
          </a:p>
        </p:txBody>
      </p:sp>
      <p:sp>
        <p:nvSpPr>
          <p:cNvPr id="203" name="Google Shape;203;p27"/>
          <p:cNvSpPr txBox="1"/>
          <p:nvPr/>
        </p:nvSpPr>
        <p:spPr>
          <a:xfrm>
            <a:off x="7616190" y="5928251"/>
            <a:ext cx="3901452" cy="494809"/>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Cambria"/>
                <a:ea typeface="Cambria"/>
                <a:cs typeface="Cambria"/>
                <a:sym typeface="Cambria"/>
              </a:rPr>
              <a:t>Figure 8: Loss Curve</a:t>
            </a:r>
            <a:r>
              <a:rPr b="0" i="0" lang="en-US" sz="2800" u="none" cap="none" strike="noStrike">
                <a:solidFill>
                  <a:schemeClr val="dk1"/>
                </a:solidFill>
                <a:latin typeface="Calibri"/>
                <a:ea typeface="Calibri"/>
                <a:cs typeface="Calibri"/>
                <a:sym typeface="Calibri"/>
              </a:rPr>
              <a:t> </a:t>
            </a:r>
            <a:endParaRPr b="0" i="0" sz="2400" u="none" cap="none" strike="noStrike">
              <a:solidFill>
                <a:schemeClr val="dk1"/>
              </a:solidFill>
              <a:latin typeface="Cambria"/>
              <a:ea typeface="Cambria"/>
              <a:cs typeface="Cambria"/>
              <a:sym typeface="Cambria"/>
            </a:endParaRPr>
          </a:p>
        </p:txBody>
      </p:sp>
      <p:cxnSp>
        <p:nvCxnSpPr>
          <p:cNvPr id="204" name="Google Shape;204;p27"/>
          <p:cNvCxnSpPr/>
          <p:nvPr/>
        </p:nvCxnSpPr>
        <p:spPr>
          <a:xfrm flipH="1">
            <a:off x="6320790" y="1280160"/>
            <a:ext cx="22860" cy="5142900"/>
          </a:xfrm>
          <a:prstGeom prst="straightConnector1">
            <a:avLst/>
          </a:prstGeom>
          <a:noFill/>
          <a:ln cap="flat" cmpd="sng" w="57150">
            <a:solidFill>
              <a:schemeClr val="accent1"/>
            </a:solidFill>
            <a:prstDash val="solid"/>
            <a:miter lim="800000"/>
            <a:headEnd len="sm" w="sm" type="none"/>
            <a:tailEnd len="sm" w="sm" type="none"/>
          </a:ln>
        </p:spPr>
      </p:cxnSp>
      <p:pic>
        <p:nvPicPr>
          <p:cNvPr id="205" name="Google Shape;205;p27"/>
          <p:cNvPicPr preferRelativeResize="0"/>
          <p:nvPr/>
        </p:nvPicPr>
        <p:blipFill rotWithShape="1">
          <a:blip r:embed="rId3">
            <a:alphaModFix/>
          </a:blip>
          <a:srcRect b="0" l="0" r="0" t="0"/>
          <a:stretch/>
        </p:blipFill>
        <p:spPr>
          <a:xfrm>
            <a:off x="152400" y="1143353"/>
            <a:ext cx="6015990" cy="4511993"/>
          </a:xfrm>
          <a:prstGeom prst="rect">
            <a:avLst/>
          </a:prstGeom>
          <a:noFill/>
          <a:ln>
            <a:noFill/>
          </a:ln>
        </p:spPr>
      </p:pic>
      <p:pic>
        <p:nvPicPr>
          <p:cNvPr id="206" name="Google Shape;206;p27"/>
          <p:cNvPicPr preferRelativeResize="0"/>
          <p:nvPr/>
        </p:nvPicPr>
        <p:blipFill rotWithShape="1">
          <a:blip r:embed="rId4">
            <a:alphaModFix/>
          </a:blip>
          <a:srcRect b="0" l="0" r="0" t="0"/>
          <a:stretch/>
        </p:blipFill>
        <p:spPr>
          <a:xfrm>
            <a:off x="6496050" y="1143353"/>
            <a:ext cx="5543550" cy="41576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8"/>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Impact of Project for Society</a:t>
            </a:r>
            <a:endParaRPr/>
          </a:p>
        </p:txBody>
      </p:sp>
      <p:sp>
        <p:nvSpPr>
          <p:cNvPr id="212" name="Google Shape;212;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80000"/>
              </a:lnSpc>
              <a:spcBef>
                <a:spcPts val="0"/>
              </a:spcBef>
              <a:spcAft>
                <a:spcPts val="0"/>
              </a:spcAft>
              <a:buClr>
                <a:schemeClr val="dk1"/>
              </a:buClr>
              <a:buSzPts val="1018"/>
              <a:buFont typeface="Arial"/>
              <a:buNone/>
            </a:pPr>
            <a:r>
              <a:rPr lang="en-US" sz="2000"/>
              <a:t>Promotes Mental Health Awareness: Helps individuals understand their emotional state and encourages awareness about mental well-being.</a:t>
            </a:r>
            <a:endParaRPr sz="2000"/>
          </a:p>
          <a:p>
            <a:pPr indent="-50800" lvl="0" marL="228600" rtl="0" algn="l">
              <a:lnSpc>
                <a:spcPct val="80000"/>
              </a:lnSpc>
              <a:spcBef>
                <a:spcPts val="0"/>
              </a:spcBef>
              <a:spcAft>
                <a:spcPts val="0"/>
              </a:spcAft>
              <a:buClr>
                <a:schemeClr val="dk1"/>
              </a:buClr>
              <a:buSzPts val="1018"/>
              <a:buFont typeface="Arial"/>
              <a:buNone/>
            </a:pPr>
            <a:r>
              <a:rPr lang="en-US" sz="2000"/>
              <a:t>Early Detection of Emotional Stress: AI-based analysis can identify signs of stress, anxiety, or negative emotions at an early stage.</a:t>
            </a:r>
            <a:endParaRPr sz="2000"/>
          </a:p>
          <a:p>
            <a:pPr indent="-50800" lvl="0" marL="228600" rtl="0" algn="l">
              <a:lnSpc>
                <a:spcPct val="80000"/>
              </a:lnSpc>
              <a:spcBef>
                <a:spcPts val="0"/>
              </a:spcBef>
              <a:spcAft>
                <a:spcPts val="0"/>
              </a:spcAft>
              <a:buClr>
                <a:schemeClr val="dk1"/>
              </a:buClr>
              <a:buSzPts val="1018"/>
              <a:buFont typeface="Arial"/>
              <a:buNone/>
            </a:pPr>
            <a:r>
              <a:rPr lang="en-US" sz="2000"/>
              <a:t>Accessible Mental Health Support: Provides basic emotional insights to users who may not have easy access to mental health professionals.</a:t>
            </a:r>
            <a:endParaRPr sz="2000"/>
          </a:p>
          <a:p>
            <a:pPr indent="-50800" lvl="0" marL="228600" rtl="0" algn="l">
              <a:lnSpc>
                <a:spcPct val="80000"/>
              </a:lnSpc>
              <a:spcBef>
                <a:spcPts val="0"/>
              </a:spcBef>
              <a:spcAft>
                <a:spcPts val="0"/>
              </a:spcAft>
              <a:buClr>
                <a:schemeClr val="dk1"/>
              </a:buClr>
              <a:buSzPts val="1018"/>
              <a:buFont typeface="Arial"/>
              <a:buNone/>
            </a:pPr>
            <a:r>
              <a:rPr lang="en-US" sz="2000"/>
              <a:t>Reduces Social Stigma: Encourages people to monitor and understand their emotions without hesitation.</a:t>
            </a:r>
            <a:endParaRPr sz="2000"/>
          </a:p>
          <a:p>
            <a:pPr indent="-50800" lvl="0" marL="228600" rtl="0" algn="l">
              <a:lnSpc>
                <a:spcPct val="80000"/>
              </a:lnSpc>
              <a:spcBef>
                <a:spcPts val="0"/>
              </a:spcBef>
              <a:spcAft>
                <a:spcPts val="0"/>
              </a:spcAft>
              <a:buClr>
                <a:schemeClr val="dk1"/>
              </a:buClr>
              <a:buSzPts val="1018"/>
              <a:buFont typeface="Arial"/>
              <a:buNone/>
            </a:pPr>
            <a:r>
              <a:rPr lang="en-US" sz="2000"/>
              <a:t>Improves Personal Well-being: Helps users track emotional patterns and adopt healthier coping strategies.</a:t>
            </a:r>
            <a:endParaRPr sz="2000"/>
          </a:p>
          <a:p>
            <a:pPr indent="-50800" lvl="0" marL="228600" rtl="0" algn="l">
              <a:lnSpc>
                <a:spcPct val="80000"/>
              </a:lnSpc>
              <a:spcBef>
                <a:spcPts val="0"/>
              </a:spcBef>
              <a:spcAft>
                <a:spcPts val="0"/>
              </a:spcAft>
              <a:buClr>
                <a:schemeClr val="dk1"/>
              </a:buClr>
              <a:buSzPts val="1018"/>
              <a:buFont typeface="Arial"/>
              <a:buNone/>
            </a:pPr>
            <a:r>
              <a:rPr lang="en-US" sz="2000"/>
              <a:t>Supports Future Smart Healthcare Systems: Contributes to the development of AI-powered mental health monitoring technologies.</a:t>
            </a:r>
            <a:endParaRPr sz="2000"/>
          </a:p>
          <a:p>
            <a:pPr indent="-50800" lvl="0" marL="228600" rtl="0" algn="l">
              <a:lnSpc>
                <a:spcPct val="80000"/>
              </a:lnSpc>
              <a:spcBef>
                <a:spcPts val="0"/>
              </a:spcBef>
              <a:spcAft>
                <a:spcPts val="0"/>
              </a:spcAft>
              <a:buClr>
                <a:schemeClr val="dk1"/>
              </a:buClr>
              <a:buSzPts val="2590"/>
              <a:buNone/>
            </a:pPr>
            <a:r>
              <a:t/>
            </a:r>
            <a:endParaRPr sz="2590"/>
          </a:p>
        </p:txBody>
      </p:sp>
      <p:sp>
        <p:nvSpPr>
          <p:cNvPr id="213" name="Google Shape;213;p28"/>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Conclusion</a:t>
            </a:r>
            <a:endParaRPr>
              <a:latin typeface="Cambria"/>
              <a:ea typeface="Cambria"/>
              <a:cs typeface="Cambria"/>
              <a:sym typeface="Cambria"/>
            </a:endParaRPr>
          </a:p>
        </p:txBody>
      </p:sp>
      <p:sp>
        <p:nvSpPr>
          <p:cNvPr id="219" name="Google Shape;219;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0" lvl="0" marL="444500" rtl="0" algn="just">
              <a:lnSpc>
                <a:spcPct val="115000"/>
              </a:lnSpc>
              <a:spcBef>
                <a:spcPts val="0"/>
              </a:spcBef>
              <a:spcAft>
                <a:spcPts val="0"/>
              </a:spcAft>
              <a:buClr>
                <a:schemeClr val="dk1"/>
              </a:buClr>
              <a:buSzPts val="1100"/>
              <a:buNone/>
            </a:pPr>
            <a:r>
              <a:rPr lang="en-US" sz="1900">
                <a:highlight>
                  <a:srgbClr val="FFFFFF"/>
                </a:highlight>
              </a:rPr>
              <a:t>This project presents the design and development of </a:t>
            </a:r>
            <a:r>
              <a:rPr b="1" lang="en-US" sz="1900">
                <a:highlight>
                  <a:srgbClr val="FFFFFF"/>
                </a:highlight>
              </a:rPr>
              <a:t>AIME (AI that Understands the Real You)</a:t>
            </a:r>
            <a:r>
              <a:rPr lang="en-US" sz="1900">
                <a:highlight>
                  <a:srgbClr val="FFFFFF"/>
                </a:highlight>
              </a:rPr>
              <a:t>, an intelligent emotion recognition and mental well-being monitoring system. The platform aims to address the limitations of traditional mental health assessment methods that mainly rely on surveys, self-reporting, or occasional clinical observations. AIME utilizes artificial intelligence techniques to analyze emotional signals from </a:t>
            </a:r>
            <a:r>
              <a:rPr b="1" lang="en-US" sz="1900">
                <a:highlight>
                  <a:srgbClr val="FFFFFF"/>
                </a:highlight>
              </a:rPr>
              <a:t>audio and video inputs</a:t>
            </a:r>
            <a:r>
              <a:rPr lang="en-US" sz="1900">
                <a:highlight>
                  <a:srgbClr val="FFFFFF"/>
                </a:highlight>
              </a:rPr>
              <a:t>, enabling a more accurate and real-time understanding of a user’s emotional state.</a:t>
            </a:r>
            <a:r>
              <a:rPr lang="en-US" sz="1900">
                <a:highlight>
                  <a:srgbClr val="606060"/>
                </a:highlight>
              </a:rPr>
              <a:t> </a:t>
            </a:r>
            <a:endParaRPr sz="1900">
              <a:highlight>
                <a:srgbClr val="606060"/>
              </a:highlight>
            </a:endParaRPr>
          </a:p>
          <a:p>
            <a:pPr indent="0" lvl="0" marL="444500" rtl="0" algn="just">
              <a:lnSpc>
                <a:spcPct val="115000"/>
              </a:lnSpc>
              <a:spcBef>
                <a:spcPts val="0"/>
              </a:spcBef>
              <a:spcAft>
                <a:spcPts val="0"/>
              </a:spcAft>
              <a:buClr>
                <a:schemeClr val="dk1"/>
              </a:buClr>
              <a:buSzPts val="1100"/>
              <a:buNone/>
            </a:pPr>
            <a:r>
              <a:rPr lang="en-US" sz="1900">
                <a:highlight>
                  <a:srgbClr val="FFFFFF"/>
                </a:highlight>
              </a:rPr>
              <a:t>The system processes emotional data collected from facial expressions and speech signals to classify emotional states such as happiness, sadness, stress, anger, and neutrality. By applying machine learning models to more than </a:t>
            </a:r>
            <a:r>
              <a:rPr b="1" lang="en-US" sz="1900">
                <a:highlight>
                  <a:srgbClr val="FFFFFF"/>
                </a:highlight>
              </a:rPr>
              <a:t>300 audio and video samples</a:t>
            </a:r>
            <a:r>
              <a:rPr lang="en-US" sz="1900">
                <a:highlight>
                  <a:srgbClr val="FFFFFF"/>
                </a:highlight>
              </a:rPr>
              <a:t>, the system achieved an </a:t>
            </a:r>
            <a:r>
              <a:rPr b="1" lang="en-US" sz="1900">
                <a:highlight>
                  <a:srgbClr val="FFFFFF"/>
                </a:highlight>
              </a:rPr>
              <a:t>emotion recognition accuracy between 80% and 90%</a:t>
            </a:r>
            <a:r>
              <a:rPr lang="en-US" sz="1900">
                <a:highlight>
                  <a:srgbClr val="FFFFFF"/>
                </a:highlight>
              </a:rPr>
              <a:t>, demonstrating the effectiveness of the proposed approach.</a:t>
            </a:r>
            <a:r>
              <a:rPr lang="en-US" sz="1900">
                <a:highlight>
                  <a:srgbClr val="606060"/>
                </a:highlight>
              </a:rPr>
              <a:t> </a:t>
            </a:r>
            <a:endParaRPr sz="1900">
              <a:highlight>
                <a:srgbClr val="606060"/>
              </a:highlight>
            </a:endParaRPr>
          </a:p>
          <a:p>
            <a:pPr indent="0" lvl="0" marL="0" rtl="0" algn="just">
              <a:lnSpc>
                <a:spcPct val="115000"/>
              </a:lnSpc>
              <a:spcBef>
                <a:spcPts val="0"/>
              </a:spcBef>
              <a:spcAft>
                <a:spcPts val="0"/>
              </a:spcAft>
              <a:buClr>
                <a:schemeClr val="dk1"/>
              </a:buClr>
              <a:buSzPts val="1100"/>
              <a:buFont typeface="Arial"/>
              <a:buNone/>
            </a:pPr>
            <a:r>
              <a:t/>
            </a:r>
            <a:endParaRPr sz="1500">
              <a:highlight>
                <a:srgbClr val="FFFFFF"/>
              </a:highlight>
            </a:endParaRPr>
          </a:p>
          <a:p>
            <a:pPr indent="-69850" lvl="0" marL="228600" rtl="0" algn="just">
              <a:lnSpc>
                <a:spcPct val="90000"/>
              </a:lnSpc>
              <a:spcBef>
                <a:spcPts val="0"/>
              </a:spcBef>
              <a:spcAft>
                <a:spcPts val="0"/>
              </a:spcAft>
              <a:buClr>
                <a:schemeClr val="dk1"/>
              </a:buClr>
              <a:buSzPts val="2500"/>
              <a:buNone/>
            </a:pPr>
            <a:r>
              <a:t/>
            </a:r>
            <a:endParaRPr sz="2500">
              <a:latin typeface="Cambria"/>
              <a:ea typeface="Cambria"/>
              <a:cs typeface="Cambria"/>
              <a:sym typeface="Cambria"/>
            </a:endParaRPr>
          </a:p>
        </p:txBody>
      </p:sp>
      <p:sp>
        <p:nvSpPr>
          <p:cNvPr id="220" name="Google Shape;220;p29"/>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0"/>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Future Work</a:t>
            </a:r>
            <a:endParaRPr>
              <a:latin typeface="Cambria"/>
              <a:ea typeface="Cambria"/>
              <a:cs typeface="Cambria"/>
              <a:sym typeface="Cambria"/>
            </a:endParaRPr>
          </a:p>
        </p:txBody>
      </p:sp>
      <p:sp>
        <p:nvSpPr>
          <p:cNvPr id="226" name="Google Shape;226;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349250" lvl="0" marL="685800" rtl="0" algn="l">
              <a:lnSpc>
                <a:spcPct val="115000"/>
              </a:lnSpc>
              <a:spcBef>
                <a:spcPts val="0"/>
              </a:spcBef>
              <a:spcAft>
                <a:spcPts val="0"/>
              </a:spcAft>
              <a:buSzPts val="1900"/>
              <a:buFont typeface="Calibri"/>
              <a:buChar char="●"/>
            </a:pPr>
            <a:r>
              <a:rPr b="1" lang="en-US" sz="1900">
                <a:highlight>
                  <a:srgbClr val="FFFFFF"/>
                </a:highlight>
              </a:rPr>
              <a:t>Additional Emotional Data Integration</a:t>
            </a:r>
            <a:r>
              <a:rPr lang="en-US" sz="1900">
                <a:highlight>
                  <a:srgbClr val="FFFFFF"/>
                </a:highlight>
              </a:rPr>
              <a:t> </a:t>
            </a:r>
            <a:br>
              <a:rPr lang="en-US" sz="1900">
                <a:highlight>
                  <a:srgbClr val="FFFFFF"/>
                </a:highlight>
              </a:rPr>
            </a:br>
            <a:r>
              <a:rPr lang="en-US" sz="1900">
                <a:highlight>
                  <a:srgbClr val="FFFFFF"/>
                </a:highlight>
              </a:rPr>
              <a:t>Future versions of the AIME system can integrate additional emotional data sources to improve emotion recognition accuracy. Along with facial expressions and speech analysis, the system could incorporate behavioural data, physiological signals, and interaction patterns. Integration with sensors or wearable devices could allow the system to analyze heart rate, stress levels, and other biological indicators to provide a deeper understanding of emotional states.</a:t>
            </a:r>
            <a:r>
              <a:rPr lang="en-US" sz="1900">
                <a:highlight>
                  <a:srgbClr val="606060"/>
                </a:highlight>
              </a:rPr>
              <a:t> </a:t>
            </a:r>
            <a:endParaRPr sz="1900">
              <a:highlight>
                <a:srgbClr val="606060"/>
              </a:highlight>
            </a:endParaRPr>
          </a:p>
          <a:p>
            <a:pPr indent="-349250" lvl="0" marL="685800" rtl="0" algn="l">
              <a:lnSpc>
                <a:spcPct val="115000"/>
              </a:lnSpc>
              <a:spcBef>
                <a:spcPts val="0"/>
              </a:spcBef>
              <a:spcAft>
                <a:spcPts val="0"/>
              </a:spcAft>
              <a:buSzPts val="1900"/>
              <a:buFont typeface="Calibri"/>
              <a:buChar char="●"/>
            </a:pPr>
            <a:r>
              <a:rPr b="1" lang="en-US" sz="1900">
                <a:highlight>
                  <a:srgbClr val="FFFFFF"/>
                </a:highlight>
              </a:rPr>
              <a:t>AI-Based Emotional Pattern Analysis</a:t>
            </a:r>
            <a:r>
              <a:rPr lang="en-US" sz="1900">
                <a:highlight>
                  <a:srgbClr val="FFFFFF"/>
                </a:highlight>
              </a:rPr>
              <a:t> </a:t>
            </a:r>
            <a:br>
              <a:rPr lang="en-US" sz="1900">
                <a:highlight>
                  <a:srgbClr val="FFFFFF"/>
                </a:highlight>
              </a:rPr>
            </a:br>
            <a:r>
              <a:rPr lang="en-US" sz="1900">
                <a:highlight>
                  <a:srgbClr val="FFFFFF"/>
                </a:highlight>
              </a:rPr>
              <a:t>An advanced enhancement would involve using artificial intelligence to analyze long-term emotional patterns and detect potential mental health risks. By studying emotional trends and behavioural changes over time, machine learning models could identify patterns related to stress, anxiety, or emotional imbalance. The system could then provide personalized recommendations to help users improve their emotional well-being.</a:t>
            </a:r>
            <a:r>
              <a:rPr lang="en-US" sz="1900">
                <a:highlight>
                  <a:srgbClr val="606060"/>
                </a:highlight>
              </a:rPr>
              <a:t> </a:t>
            </a:r>
            <a:endParaRPr sz="1900">
              <a:highlight>
                <a:srgbClr val="606060"/>
              </a:highlight>
            </a:endParaRPr>
          </a:p>
          <a:p>
            <a:pPr indent="-69850" lvl="0" marL="228600" rtl="0" algn="just">
              <a:lnSpc>
                <a:spcPct val="90000"/>
              </a:lnSpc>
              <a:spcBef>
                <a:spcPts val="0"/>
              </a:spcBef>
              <a:spcAft>
                <a:spcPts val="0"/>
              </a:spcAft>
              <a:buClr>
                <a:schemeClr val="dk1"/>
              </a:buClr>
              <a:buSzPts val="2500"/>
              <a:buNone/>
            </a:pPr>
            <a:r>
              <a:t/>
            </a:r>
            <a:endParaRPr sz="2500">
              <a:latin typeface="Cambria"/>
              <a:ea typeface="Cambria"/>
              <a:cs typeface="Cambria"/>
              <a:sym typeface="Cambria"/>
            </a:endParaRPr>
          </a:p>
        </p:txBody>
      </p:sp>
      <p:sp>
        <p:nvSpPr>
          <p:cNvPr id="227" name="Google Shape;227;p30"/>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1"/>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References</a:t>
            </a:r>
            <a:endParaRPr>
              <a:latin typeface="Cambria"/>
              <a:ea typeface="Cambria"/>
              <a:cs typeface="Cambria"/>
              <a:sym typeface="Cambria"/>
            </a:endParaRPr>
          </a:p>
        </p:txBody>
      </p:sp>
      <p:sp>
        <p:nvSpPr>
          <p:cNvPr id="233" name="Google Shape;233;p31"/>
          <p:cNvSpPr txBox="1"/>
          <p:nvPr>
            <p:ph idx="1" type="body"/>
          </p:nvPr>
        </p:nvSpPr>
        <p:spPr>
          <a:xfrm>
            <a:off x="838200" y="1554480"/>
            <a:ext cx="10515600" cy="5154930"/>
          </a:xfrm>
          <a:prstGeom prst="rect">
            <a:avLst/>
          </a:prstGeom>
          <a:noFill/>
          <a:ln>
            <a:noFill/>
          </a:ln>
        </p:spPr>
        <p:txBody>
          <a:bodyPr anchorCtr="0" anchor="t" bIns="45700" lIns="91425" spcFirstLastPara="1" rIns="91425" wrap="square" tIns="45700">
            <a:normAutofit lnSpcReduction="10000"/>
          </a:bodyPr>
          <a:lstStyle/>
          <a:p>
            <a:pPr indent="0" lvl="0" marL="406400" rtl="0" algn="just">
              <a:lnSpc>
                <a:spcPct val="115000"/>
              </a:lnSpc>
              <a:spcBef>
                <a:spcPts val="600"/>
              </a:spcBef>
              <a:spcAft>
                <a:spcPts val="0"/>
              </a:spcAft>
              <a:buClr>
                <a:schemeClr val="dk1"/>
              </a:buClr>
              <a:buSzPts val="1100"/>
              <a:buFont typeface="Arial"/>
              <a:buNone/>
            </a:pPr>
            <a:r>
              <a:rPr lang="en-US" sz="1100">
                <a:highlight>
                  <a:srgbClr val="FFFFFF"/>
                </a:highlight>
              </a:rPr>
              <a:t>[</a:t>
            </a:r>
            <a:r>
              <a:rPr lang="en-US" sz="1900">
                <a:highlight>
                  <a:srgbClr val="FFFFFF"/>
                </a:highlight>
              </a:rPr>
              <a:t>1] R. W. Picard, </a:t>
            </a:r>
            <a:r>
              <a:rPr i="1" lang="en-US" sz="1900">
                <a:highlight>
                  <a:srgbClr val="FFFFFF"/>
                </a:highlight>
              </a:rPr>
              <a:t>Affective Computing</a:t>
            </a:r>
            <a:r>
              <a:rPr lang="en-US" sz="1900">
                <a:highlight>
                  <a:srgbClr val="FFFFFF"/>
                </a:highlight>
              </a:rPr>
              <a:t>. Cambridge, MA: MIT Press, 2000.</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[2] S. D’Mello and J. Kory, “A Review and Meta-Analysis of Multimodal Affect Detection Systems,” </a:t>
            </a:r>
            <a:r>
              <a:rPr i="1" lang="en-US" sz="1900">
                <a:highlight>
                  <a:srgbClr val="FFFFFF"/>
                </a:highlight>
              </a:rPr>
              <a:t>ACM Computing Surveys</a:t>
            </a:r>
            <a:r>
              <a:rPr lang="en-US" sz="1900">
                <a:highlight>
                  <a:srgbClr val="FFFFFF"/>
                </a:highlight>
              </a:rPr>
              <a:t>, vol. 47, no. 3, pp. 1–36, 2015.</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[3] B. Schuller and A. Batliner, </a:t>
            </a:r>
            <a:r>
              <a:rPr i="1" lang="en-US" sz="1900">
                <a:highlight>
                  <a:srgbClr val="FFFFFF"/>
                </a:highlight>
              </a:rPr>
              <a:t>Computational Paralinguistics: Emotion, Affect and Personality in Speech and Language Processing</a:t>
            </a:r>
            <a:r>
              <a:rPr lang="en-US" sz="1900">
                <a:highlight>
                  <a:srgbClr val="FFFFFF"/>
                </a:highlight>
              </a:rPr>
              <a:t>. Wiley, 2014.</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[4] M. Soleymani, S. Asghari-Esfeden, Y. Fu, and M. Pantic, “Analysis of EEG Signals and Facial Expressions for Continuous Emotion Detection,” </a:t>
            </a:r>
            <a:r>
              <a:rPr i="1" lang="en-US" sz="1900">
                <a:highlight>
                  <a:srgbClr val="FFFFFF"/>
                </a:highlight>
              </a:rPr>
              <a:t>IEEE Transactions on Affective Computing</a:t>
            </a:r>
            <a:r>
              <a:rPr lang="en-US" sz="1900">
                <a:highlight>
                  <a:srgbClr val="FFFFFF"/>
                </a:highlight>
              </a:rPr>
              <a:t>, vol. 7, no. 1, pp. 17–28, 2016.</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[5] S. Koelstra et al., “DEAP: A Database for Emotion Analysis Using Physiological Signals,” </a:t>
            </a:r>
            <a:r>
              <a:rPr i="1" lang="en-US" sz="1900">
                <a:highlight>
                  <a:srgbClr val="FFFFFF"/>
                </a:highlight>
              </a:rPr>
              <a:t>IEEE Transactions on Affective Computing</a:t>
            </a:r>
            <a:r>
              <a:rPr lang="en-US" sz="1900">
                <a:highlight>
                  <a:srgbClr val="FFFFFF"/>
                </a:highlight>
              </a:rPr>
              <a:t>, vol. 3, no. 1, pp. 18–31, 2012.</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[6] J. Torous and A. Powell, “Current Research and Trends in the Use of Smartphone Applications for Mental Health,” </a:t>
            </a:r>
            <a:r>
              <a:rPr i="1" lang="en-US" sz="1900">
                <a:highlight>
                  <a:srgbClr val="FFFFFF"/>
                </a:highlight>
              </a:rPr>
              <a:t>Journal of Medical Internet Research</a:t>
            </a:r>
            <a:r>
              <a:rPr lang="en-US" sz="1900">
                <a:highlight>
                  <a:srgbClr val="FFFFFF"/>
                </a:highlight>
              </a:rPr>
              <a:t>, vol. 17, no. 11, pp. 1–10, 2015.</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[7] R. Calvo and S. D’Mello, “Affect Detection: An Interdisciplinary Review of Models, Methods, and Their Applications,” </a:t>
            </a:r>
            <a:r>
              <a:rPr i="1" lang="en-US" sz="1900">
                <a:highlight>
                  <a:srgbClr val="FFFFFF"/>
                </a:highlight>
              </a:rPr>
              <a:t>IEEE Transactions on Affective Computing</a:t>
            </a:r>
            <a:r>
              <a:rPr lang="en-US" sz="1900">
                <a:highlight>
                  <a:srgbClr val="FFFFFF"/>
                </a:highlight>
              </a:rPr>
              <a:t>, vol. 1, no. 1, pp. 18–37, 2010.</a:t>
            </a:r>
            <a:r>
              <a:rPr lang="en-US" sz="1900">
                <a:highlight>
                  <a:srgbClr val="606060"/>
                </a:highlight>
              </a:rPr>
              <a:t> </a:t>
            </a:r>
            <a:endParaRPr sz="1900">
              <a:highlight>
                <a:srgbClr val="606060"/>
              </a:highlight>
            </a:endParaRPr>
          </a:p>
          <a:p>
            <a:pPr indent="-330200" lvl="0" marL="457200" rtl="0" algn="just">
              <a:lnSpc>
                <a:spcPct val="90000"/>
              </a:lnSpc>
              <a:spcBef>
                <a:spcPts val="600"/>
              </a:spcBef>
              <a:spcAft>
                <a:spcPts val="0"/>
              </a:spcAft>
              <a:buClr>
                <a:schemeClr val="dk1"/>
              </a:buClr>
              <a:buSzPts val="2000"/>
              <a:buFont typeface="Calibri"/>
              <a:buNone/>
            </a:pPr>
            <a:r>
              <a:t/>
            </a:r>
            <a:endParaRPr sz="2000">
              <a:latin typeface="Cambria"/>
              <a:ea typeface="Cambria"/>
              <a:cs typeface="Cambria"/>
              <a:sym typeface="Cambria"/>
            </a:endParaRPr>
          </a:p>
        </p:txBody>
      </p:sp>
      <p:sp>
        <p:nvSpPr>
          <p:cNvPr id="234" name="Google Shape;234;p31"/>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2"/>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mbria"/>
              <a:buNone/>
            </a:pPr>
            <a:r>
              <a:rPr lang="en-US">
                <a:latin typeface="Cambria"/>
                <a:ea typeface="Cambria"/>
                <a:cs typeface="Cambria"/>
                <a:sym typeface="Cambria"/>
              </a:rPr>
              <a:t>References</a:t>
            </a:r>
            <a:endParaRPr>
              <a:latin typeface="Cambria"/>
              <a:ea typeface="Cambria"/>
              <a:cs typeface="Cambria"/>
              <a:sym typeface="Cambria"/>
            </a:endParaRPr>
          </a:p>
        </p:txBody>
      </p:sp>
      <p:sp>
        <p:nvSpPr>
          <p:cNvPr id="240" name="Google Shape;240;p32"/>
          <p:cNvSpPr txBox="1"/>
          <p:nvPr>
            <p:ph idx="1" type="body"/>
          </p:nvPr>
        </p:nvSpPr>
        <p:spPr>
          <a:xfrm>
            <a:off x="838200" y="1554480"/>
            <a:ext cx="10515600" cy="5154930"/>
          </a:xfrm>
          <a:prstGeom prst="rect">
            <a:avLst/>
          </a:prstGeom>
          <a:noFill/>
          <a:ln>
            <a:noFill/>
          </a:ln>
        </p:spPr>
        <p:txBody>
          <a:bodyPr anchorCtr="0" anchor="t" bIns="45700" lIns="91425" spcFirstLastPara="1" rIns="91425" wrap="square" tIns="45700">
            <a:normAutofit lnSpcReduction="10000"/>
          </a:bodyPr>
          <a:lstStyle/>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[8] OpenCV Foundation, “OpenCV Documentation,” [Online]. Available: https://docs.opencv.org. [Accessed: March 2026].</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[9] TensorFlow Developers, “TensorFlow Machine Learning Framework,” [Online]. Available: </a:t>
            </a:r>
            <a:r>
              <a:rPr lang="en-US" sz="1900" u="sng">
                <a:solidFill>
                  <a:schemeClr val="hlink"/>
                </a:solidFill>
                <a:highlight>
                  <a:srgbClr val="FFFFFF"/>
                </a:highlight>
                <a:hlinkClick r:id="rId3"/>
              </a:rPr>
              <a:t>https://www.tensorflow.org</a:t>
            </a:r>
            <a:r>
              <a:rPr lang="en-US" sz="1900">
                <a:highlight>
                  <a:srgbClr val="FFFFFF"/>
                </a:highlight>
              </a:rPr>
              <a:t>. [Accessed: March 2026].</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[10] PyTorch Contributors, “PyTorch Deep Learning Framework,” [Online]. Available: </a:t>
            </a:r>
            <a:r>
              <a:rPr lang="en-US" sz="1900" u="sng">
                <a:solidFill>
                  <a:schemeClr val="hlink"/>
                </a:solidFill>
                <a:highlight>
                  <a:srgbClr val="FFFFFF"/>
                </a:highlight>
                <a:hlinkClick r:id="rId4"/>
              </a:rPr>
              <a:t>https://pytorch.org/docs</a:t>
            </a:r>
            <a:r>
              <a:rPr lang="en-US" sz="1900">
                <a:highlight>
                  <a:srgbClr val="FFFFFF"/>
                </a:highlight>
              </a:rPr>
              <a:t>. [Accessed: March 2026].</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[11] Meta Platforms Inc., “React Native Documentation,” [Online]. Available: </a:t>
            </a:r>
            <a:r>
              <a:rPr lang="en-US" sz="1900" u="sng">
                <a:solidFill>
                  <a:schemeClr val="hlink"/>
                </a:solidFill>
                <a:highlight>
                  <a:srgbClr val="FFFFFF"/>
                </a:highlight>
                <a:hlinkClick r:id="rId5"/>
              </a:rPr>
              <a:t>https://reactnative.dev</a:t>
            </a:r>
            <a:r>
              <a:rPr lang="en-US" sz="1900">
                <a:highlight>
                  <a:srgbClr val="FFFFFF"/>
                </a:highlight>
              </a:rPr>
              <a:t>. [Accessed: March 2026].</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[12] OpenJS Foundation, “Node.js Documentation,” [Online]. Available: </a:t>
            </a:r>
            <a:r>
              <a:rPr lang="en-US" sz="1900" u="sng">
                <a:solidFill>
                  <a:schemeClr val="hlink"/>
                </a:solidFill>
                <a:highlight>
                  <a:srgbClr val="FFFFFF"/>
                </a:highlight>
                <a:hlinkClick r:id="rId6"/>
              </a:rPr>
              <a:t>https://nodejs.org/docs</a:t>
            </a:r>
            <a:r>
              <a:rPr lang="en-US" sz="1900">
                <a:highlight>
                  <a:srgbClr val="FFFFFF"/>
                </a:highlight>
              </a:rPr>
              <a:t>. [Accessed: March 2026].</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[13] F. Pedregosa et al., “Scikit-learn: Machine Learning in Python,” </a:t>
            </a:r>
            <a:r>
              <a:rPr i="1" lang="en-US" sz="1900">
                <a:highlight>
                  <a:srgbClr val="FFFFFF"/>
                </a:highlight>
              </a:rPr>
              <a:t>Journal of Machine Learning Research</a:t>
            </a:r>
            <a:r>
              <a:rPr lang="en-US" sz="1900">
                <a:highlight>
                  <a:srgbClr val="FFFFFF"/>
                </a:highlight>
              </a:rPr>
              <a:t>, vol. 12, pp. 2825–2830, 2011.</a:t>
            </a:r>
            <a:r>
              <a:rPr lang="en-US" sz="1900">
                <a:highlight>
                  <a:srgbClr val="606060"/>
                </a:highlight>
              </a:rPr>
              <a:t> </a:t>
            </a:r>
            <a:endParaRPr sz="1900">
              <a:highlight>
                <a:srgbClr val="606060"/>
              </a:highlight>
            </a:endParaRPr>
          </a:p>
          <a:p>
            <a:pPr indent="0" lvl="0" marL="406400" rtl="0" algn="just">
              <a:lnSpc>
                <a:spcPct val="115000"/>
              </a:lnSpc>
              <a:spcBef>
                <a:spcPts val="600"/>
              </a:spcBef>
              <a:spcAft>
                <a:spcPts val="0"/>
              </a:spcAft>
              <a:buClr>
                <a:schemeClr val="dk1"/>
              </a:buClr>
              <a:buSzPts val="1100"/>
              <a:buFont typeface="Arial"/>
              <a:buNone/>
            </a:pPr>
            <a:r>
              <a:rPr lang="en-US" sz="1900">
                <a:highlight>
                  <a:srgbClr val="FFFFFF"/>
                </a:highlight>
              </a:rPr>
              <a:t>[14] World Health Organization, “Mental Health and Well-Being Report,” Geneva: WHO Publications, 2022.</a:t>
            </a:r>
            <a:r>
              <a:rPr lang="en-US" sz="1900">
                <a:highlight>
                  <a:srgbClr val="606060"/>
                </a:highlight>
              </a:rPr>
              <a:t> </a:t>
            </a:r>
            <a:endParaRPr sz="1900">
              <a:highlight>
                <a:srgbClr val="606060"/>
              </a:highlight>
            </a:endParaRPr>
          </a:p>
          <a:p>
            <a:pPr indent="-330200" lvl="0" marL="457200" rtl="0" algn="just">
              <a:lnSpc>
                <a:spcPct val="90000"/>
              </a:lnSpc>
              <a:spcBef>
                <a:spcPts val="600"/>
              </a:spcBef>
              <a:spcAft>
                <a:spcPts val="0"/>
              </a:spcAft>
              <a:buClr>
                <a:schemeClr val="dk1"/>
              </a:buClr>
              <a:buSzPts val="2000"/>
              <a:buFont typeface="Calibri"/>
              <a:buNone/>
            </a:pPr>
            <a:r>
              <a:t/>
            </a:r>
            <a:endParaRPr sz="2000">
              <a:latin typeface="Cambria"/>
              <a:ea typeface="Cambria"/>
              <a:cs typeface="Cambria"/>
              <a:sym typeface="Cambria"/>
            </a:endParaRPr>
          </a:p>
        </p:txBody>
      </p:sp>
      <p:sp>
        <p:nvSpPr>
          <p:cNvPr id="241" name="Google Shape;241;p32"/>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33"/>
          <p:cNvPicPr preferRelativeResize="0"/>
          <p:nvPr>
            <p:ph idx="1" type="body"/>
          </p:nvPr>
        </p:nvPicPr>
        <p:blipFill rotWithShape="1">
          <a:blip r:embed="rId3">
            <a:alphaModFix/>
          </a:blip>
          <a:srcRect b="0" l="0" r="0" t="0"/>
          <a:stretch/>
        </p:blipFill>
        <p:spPr>
          <a:xfrm>
            <a:off x="2614930" y="1356995"/>
            <a:ext cx="6962140" cy="4351338"/>
          </a:xfrm>
          <a:prstGeom prst="rect">
            <a:avLst/>
          </a:prstGeom>
          <a:noFill/>
          <a:ln>
            <a:noFill/>
          </a:ln>
        </p:spPr>
      </p:pic>
      <p:sp>
        <p:nvSpPr>
          <p:cNvPr id="247" name="Google Shape;247;p33"/>
          <p:cNvSpPr txBox="1"/>
          <p:nvPr>
            <p:ph idx="12" type="sldNum"/>
          </p:nvPr>
        </p:nvSpPr>
        <p:spPr>
          <a:xfrm>
            <a:off x="8610600" y="6356352"/>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
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38"/>
  </p:notesMasterIdLst>
  <p:sldIdLst>
    <p:sldId id="256" r:id="rId2"/>
    <p:sldId id="257" r:id="rId3"/>
    <p:sldId id="277" r:id="rId4"/>
    <p:sldId id="294" r:id="rId5"/>
    <p:sldId id="328" r:id="rId6"/>
    <p:sldId id="340" r:id="rId7"/>
    <p:sldId id="280" r:id="rId8"/>
    <p:sldId id="273" r:id="rId9"/>
    <p:sldId id="331" r:id="rId10"/>
    <p:sldId id="332" r:id="rId11"/>
    <p:sldId id="334" r:id="rId12"/>
    <p:sldId id="333" r:id="rId13"/>
    <p:sldId id="344" r:id="rId14"/>
    <p:sldId id="345" r:id="rId15"/>
    <p:sldId id="346" r:id="rId16"/>
    <p:sldId id="347" r:id="rId17"/>
    <p:sldId id="348" r:id="rId18"/>
    <p:sldId id="349" r:id="rId19"/>
    <p:sldId id="350" r:id="rId20"/>
    <p:sldId id="351" r:id="rId21"/>
    <p:sldId id="352" r:id="rId22"/>
    <p:sldId id="353" r:id="rId23"/>
    <p:sldId id="354" r:id="rId24"/>
    <p:sldId id="355" r:id="rId25"/>
    <p:sldId id="356" r:id="rId26"/>
    <p:sldId id="357" r:id="rId27"/>
    <p:sldId id="330" r:id="rId28"/>
    <p:sldId id="336" r:id="rId29"/>
    <p:sldId id="342" r:id="rId30"/>
    <p:sldId id="343" r:id="rId31"/>
    <p:sldId id="339" r:id="rId32"/>
    <p:sldId id="338" r:id="rId33"/>
    <p:sldId id="337" r:id="rId34"/>
    <p:sldId id="327" r:id="rId35"/>
    <p:sldId id="323" r:id="rId36"/>
    <p:sldId id="284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62" autoAdjust="0"/>
    <p:restoredTop sz="93801" autoAdjust="0"/>
  </p:normalViewPr>
  <p:slideViewPr>
    <p:cSldViewPr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5BCDB-CDD6-4B30-AB71-9287113A72DB}" type="datetimeFigureOut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23BDF7-936B-42D7-9323-3AA56308BC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106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3BDF7-936B-42D7-9323-3AA56308BCD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528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3BDF7-936B-42D7-9323-3AA56308BCD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766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3BDF7-936B-42D7-9323-3AA56308BCD9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357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B3BA4-1E08-4975-A395-B727F00D5315}" type="datetime1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270E4E-6CF8-481F-A60C-CCDFC47DD1F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D8379-1E86-419E-A275-A4ED6A1396E3}" type="datetime1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70E4E-6CF8-481F-A60C-CCDFC47DD1F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86030-B588-4187-B9FE-F48E74B0BFEA}" type="datetime1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270E4E-6CF8-481F-A60C-CCDFC47DD1F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Title of Project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37DC-0070-46A9-92D5-F1FE3172288E}" type="datetime1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70E4E-6CF8-481F-A60C-CCDFC47DD1F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AAB5-CE6B-4310-B4FF-04621D2E8890}" type="datetime1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70E4E-6CF8-481F-A60C-CCDFC47DD1F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F2770-C801-4F45-8BB9-89E6DAE62162}" type="datetime1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70E4E-6CF8-481F-A60C-CCDFC47DD1F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E9242-6974-45F6-ACA8-559131614A06}" type="datetime1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70E4E-6CF8-481F-A60C-CCDFC47DD1F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D7866-23A1-45BA-A1C7-DB89A8158FC7}" type="datetime1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70E4E-6CF8-481F-A60C-CCDFC47DD1F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14FB-7579-4C61-97AF-61FD79EC015F}" type="datetime1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270E4E-6CF8-481F-A60C-CCDFC47DD1F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B44D8-1FBB-4023-9D47-E7EA0141AAB5}" type="datetime1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70E4E-6CF8-481F-A60C-CCDFC47DD1F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46AEB-B609-4002-A0D8-AC2AB5865BFB}" type="datetime1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70E4E-6CF8-481F-A60C-CCDFC47DD1F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996124A5-C5A7-44AD-BF77-135DC0B123E5}" type="datetime1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Title of Project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C7270E4E-6CF8-481F-A60C-CCDFC47DD1F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350" y="1371600"/>
            <a:ext cx="8705850" cy="1371600"/>
          </a:xfrm>
        </p:spPr>
        <p:txBody>
          <a:bodyPr>
            <a:noAutofit/>
          </a:bodyPr>
          <a:lstStyle/>
          <a:p>
            <a:pPr algn="ctr"/>
            <a:br>
              <a:rPr lang="en-US" sz="3000" dirty="0">
                <a:latin typeface="Arial Black" pitchFamily="34" charset="0"/>
              </a:rPr>
            </a:br>
            <a:r>
              <a:rPr lang="en-US" sz="3000" dirty="0">
                <a:latin typeface="Arial Black" pitchFamily="34" charset="0"/>
              </a:rPr>
              <a:t>Presentation on</a:t>
            </a:r>
            <a:br>
              <a:rPr lang="en-US" sz="3000" dirty="0">
                <a:latin typeface="Arial Black" pitchFamily="34" charset="0"/>
              </a:rPr>
            </a:br>
            <a:br>
              <a:rPr lang="en-US" sz="3000" dirty="0">
                <a:latin typeface="Arial Black" pitchFamily="34" charset="0"/>
              </a:rPr>
            </a:br>
            <a:r>
              <a:rPr lang="en-US" sz="3200" dirty="0"/>
              <a:t>AIME : AI that understands the real you</a:t>
            </a:r>
            <a:br>
              <a:rPr lang="en-US" sz="3200" dirty="0"/>
            </a:br>
            <a:r>
              <a:rPr lang="en-US" sz="3000" dirty="0">
                <a:latin typeface="Arial Black" pitchFamily="34" charset="0"/>
              </a:rPr>
              <a:t>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47700" y="2321371"/>
            <a:ext cx="7429500" cy="96361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6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5496" y="4005064"/>
            <a:ext cx="5832648" cy="2167136"/>
          </a:xfrm>
        </p:spPr>
        <p:txBody>
          <a:bodyPr>
            <a:normAutofit/>
          </a:bodyPr>
          <a:lstStyle/>
          <a:p>
            <a:r>
              <a:rPr lang="en-US" sz="1500" dirty="0"/>
              <a:t>Presented by :</a:t>
            </a:r>
          </a:p>
          <a:p>
            <a:r>
              <a:rPr lang="en-US" sz="1500" dirty="0"/>
              <a:t>BHAVIK RATNOTTAR(2403031087089)</a:t>
            </a:r>
          </a:p>
          <a:p>
            <a:r>
              <a:rPr lang="en-US" sz="1500" dirty="0"/>
              <a:t>ABDULHANNAN (2403031087001)</a:t>
            </a:r>
          </a:p>
          <a:p>
            <a:r>
              <a:rPr lang="en-US" sz="1500" dirty="0"/>
              <a:t>ZAID SAIYED(2303031080012)</a:t>
            </a:r>
          </a:p>
          <a:p>
            <a:r>
              <a:rPr lang="en-US" sz="1500" dirty="0"/>
              <a:t>PATEL JAY(2403031087165)</a:t>
            </a:r>
          </a:p>
        </p:txBody>
      </p:sp>
      <p:sp>
        <p:nvSpPr>
          <p:cNvPr id="6" name="Subtitle 4"/>
          <p:cNvSpPr txBox="1">
            <a:spLocks/>
          </p:cNvSpPr>
          <p:nvPr/>
        </p:nvSpPr>
        <p:spPr>
          <a:xfrm>
            <a:off x="5638800" y="4005064"/>
            <a:ext cx="4117776" cy="2009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0" kern="1200" cap="all" spc="12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/>
              <a:t>Under guidance of : </a:t>
            </a:r>
          </a:p>
          <a:p>
            <a:r>
              <a:rPr lang="en-US" sz="1500" dirty="0"/>
              <a:t>Kailash </a:t>
            </a:r>
            <a:r>
              <a:rPr lang="en-US" sz="1500" dirty="0" err="1"/>
              <a:t>parEEk</a:t>
            </a:r>
            <a:endParaRPr lang="en-US" sz="1500" dirty="0"/>
          </a:p>
          <a:p>
            <a:r>
              <a:rPr lang="en-US" sz="1500" dirty="0"/>
              <a:t>Assistant Professor</a:t>
            </a:r>
          </a:p>
          <a:p>
            <a:r>
              <a:rPr lang="en-US" sz="1500" dirty="0"/>
              <a:t>(IT Department) </a:t>
            </a:r>
          </a:p>
        </p:txBody>
      </p:sp>
      <p:pic>
        <p:nvPicPr>
          <p:cNvPr id="8" name="image1.jpe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4714876" cy="92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938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Motivation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Aim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Application/s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Research Gap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Methodology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Existing Work Flow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Proposed Work Flow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Implementation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16200000">
            <a:off x="8211502" y="5885497"/>
            <a:ext cx="1315721" cy="365125"/>
          </a:xfrm>
        </p:spPr>
        <p:txBody>
          <a:bodyPr vert="vert"/>
          <a:lstStyle/>
          <a:p>
            <a:fld id="{C7270E4E-6CF8-481F-A60C-CCDFC47DD1F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035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Algerian" pitchFamily="82" charset="0"/>
              </a:rPr>
              <a:t>INTRODUCTION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D8E1C5-3B56-42FD-8708-AEB2915CA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AIME (Artificial Intelligence for Mood &amp; Emotion)</a:t>
            </a:r>
            <a:r>
              <a:rPr lang="en-US" b="0" dirty="0"/>
              <a:t> is an AI-based system that understands human emotions using </a:t>
            </a:r>
            <a:r>
              <a:rPr lang="en-US" dirty="0"/>
              <a:t>facial expressions and voice signals.</a:t>
            </a:r>
          </a:p>
          <a:p>
            <a:r>
              <a:rPr lang="en-US" b="0" dirty="0"/>
              <a:t>The system uses </a:t>
            </a:r>
            <a:r>
              <a:rPr lang="en-US" dirty="0"/>
              <a:t>deep learning models</a:t>
            </a:r>
            <a:r>
              <a:rPr lang="en-US" b="0" dirty="0"/>
              <a:t> to analyze </a:t>
            </a:r>
            <a:r>
              <a:rPr lang="en-US" dirty="0"/>
              <a:t>real-time video and audio</a:t>
            </a:r>
            <a:r>
              <a:rPr lang="en-US" b="0" dirty="0"/>
              <a:t> and identifies emotions such as </a:t>
            </a:r>
            <a:r>
              <a:rPr lang="en-US" dirty="0"/>
              <a:t>happy, sad, angry, fear, calm, and surprise</a:t>
            </a:r>
            <a:r>
              <a:rPr lang="en-US" b="0" dirty="0"/>
              <a:t>.</a:t>
            </a:r>
          </a:p>
          <a:p>
            <a:r>
              <a:rPr lang="en-US" b="0" dirty="0"/>
              <a:t>AIME is designed to support </a:t>
            </a:r>
            <a:r>
              <a:rPr lang="en-US" dirty="0"/>
              <a:t>mental health awareness, emotional well-being</a:t>
            </a:r>
            <a:r>
              <a:rPr lang="en-US" b="0" dirty="0"/>
              <a:t>, and </a:t>
            </a:r>
            <a:r>
              <a:rPr lang="en-US" dirty="0"/>
              <a:t>human-computer interaction</a:t>
            </a:r>
            <a:r>
              <a:rPr lang="en-US" b="0" dirty="0"/>
              <a:t>.</a:t>
            </a:r>
          </a:p>
          <a:p>
            <a:endParaRPr lang="en-IN" b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vert="vert"/>
          <a:lstStyle/>
          <a:p>
            <a:fld id="{C7270E4E-6CF8-481F-A60C-CCDFC47DD1F2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Algerian" pitchFamily="82" charset="0"/>
              </a:rPr>
              <a:t>motivation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vert="vert"/>
          <a:lstStyle/>
          <a:p>
            <a:fld id="{C7270E4E-6CF8-481F-A60C-CCDFC47DD1F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3FB25D6-A6CD-2B7D-386A-D7DF4AE136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523613"/>
            <a:ext cx="8147248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Rising mental health issues among students and professionals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 in identifying emotions through text alone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non-intrusive, real-time emotion understanding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affordable AI systems for emotional monitoring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b="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AIME aims to bridge the gap between human emotions and intelligent systems.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343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Algerian" pitchFamily="82" charset="0"/>
              </a:rPr>
              <a:t>Aim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vert="vert"/>
          <a:lstStyle/>
          <a:p>
            <a:fld id="{C7270E4E-6CF8-481F-A60C-CCDFC47DD1F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43A9670-E48B-A499-2E50-593467EC9B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706000"/>
            <a:ext cx="7148432" cy="2466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To develop an AI-based emotion recognition system that: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800" b="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Detects emotions from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video (facial expressions)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Extends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audio (voice emotions)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accurate emotion 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used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mental health support systems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619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Algerian" pitchFamily="82" charset="0"/>
              </a:rPr>
              <a:t>Applications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vert="vert"/>
          <a:lstStyle/>
          <a:p>
            <a:fld id="{C7270E4E-6CF8-481F-A60C-CCDFC47DD1F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EE6B09D-96ED-8E21-07CF-84F00C70FC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305892"/>
            <a:ext cx="3924472" cy="326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Mental health monitoring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counseling platforms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stress detection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healthcare systems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Human–computer interaction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Emotion-aware AI assistants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 media sentiment analysis</a:t>
            </a:r>
          </a:p>
        </p:txBody>
      </p:sp>
    </p:spTree>
    <p:extLst>
      <p:ext uri="{BB962C8B-B14F-4D97-AF65-F5344CB8AC3E}">
        <p14:creationId xmlns:p14="http://schemas.microsoft.com/office/powerpoint/2010/main" val="4070619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0"/>
            <a:ext cx="76200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Algerian" pitchFamily="82" charset="0"/>
              </a:rPr>
              <a:t>Literature survey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vert="vert"/>
          <a:lstStyle/>
          <a:p>
            <a:fld id="{C7270E4E-6CF8-481F-A60C-CCDFC47DD1F2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52718"/>
            <a:ext cx="8839200" cy="1371600"/>
          </a:xfrm>
        </p:spPr>
        <p:txBody>
          <a:bodyPr/>
          <a:lstStyle/>
          <a:p>
            <a:pPr algn="ctr"/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Paper 1: Facial Emotion Recognition using Deep CNN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2950966"/>
              </p:ext>
            </p:extLst>
          </p:nvPr>
        </p:nvGraphicFramePr>
        <p:xfrm>
          <a:off x="609600" y="1524319"/>
          <a:ext cx="8153400" cy="426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1"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Publication and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Approach (Methodology)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10">
                <a:tc>
                  <a:txBody>
                    <a:bodyPr/>
                    <a:lstStyle/>
                    <a:p>
                      <a:r>
                        <a:rPr lang="en-IN" dirty="0"/>
                        <a:t>IEEE, 2022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S. Li et al.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CNN-based facial feature extraction on video frames</a:t>
                      </a:r>
                      <a:br>
                        <a:rPr lang="en-US" dirty="0"/>
                      </a:b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recognition accuracy, robust facial features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Requires large dataset, high computation cost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16200000">
            <a:off x="8181340" y="5763258"/>
            <a:ext cx="1315721" cy="609600"/>
          </a:xfrm>
        </p:spPr>
        <p:txBody>
          <a:bodyPr vert="vert"/>
          <a:lstStyle/>
          <a:p>
            <a:fld id="{C7270E4E-6CF8-481F-A60C-CCDFC47DD1F2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52718"/>
            <a:ext cx="8839200" cy="1371600"/>
          </a:xfrm>
        </p:spPr>
        <p:txBody>
          <a:bodyPr/>
          <a:lstStyle/>
          <a:p>
            <a:pPr algn="ctr"/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Paper 2: Real-Time Emotion Recognition using 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MobileNet</a:t>
            </a:r>
            <a:endParaRPr lang="en-US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934014"/>
              </p:ext>
            </p:extLst>
          </p:nvPr>
        </p:nvGraphicFramePr>
        <p:xfrm>
          <a:off x="609600" y="1524319"/>
          <a:ext cx="8153400" cy="426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1"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Publication and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Approach (Methodology)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10">
                <a:tc>
                  <a:txBody>
                    <a:bodyPr/>
                    <a:lstStyle/>
                    <a:p>
                      <a:r>
                        <a:rPr lang="en-IN" dirty="0"/>
                        <a:t>Springer, 2022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K. Sharma et al.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MobileNet</a:t>
                      </a:r>
                      <a:r>
                        <a:rPr lang="en-US" dirty="0"/>
                        <a:t> transfer learning for facial emotion recognition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Lightweight model, faster inference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performance on low-quality videos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16200000">
            <a:off x="8181340" y="5763258"/>
            <a:ext cx="1315721" cy="609600"/>
          </a:xfrm>
        </p:spPr>
        <p:txBody>
          <a:bodyPr vert="vert"/>
          <a:lstStyle/>
          <a:p>
            <a:fld id="{C7270E4E-6CF8-481F-A60C-CCDFC47DD1F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506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52718"/>
            <a:ext cx="8839200" cy="1371600"/>
          </a:xfrm>
        </p:spPr>
        <p:txBody>
          <a:bodyPr/>
          <a:lstStyle/>
          <a:p>
            <a:pPr algn="ctr"/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Paper 3: Speech Emotion Recognition using MFCC &amp; CNN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9798045"/>
              </p:ext>
            </p:extLst>
          </p:nvPr>
        </p:nvGraphicFramePr>
        <p:xfrm>
          <a:off x="609600" y="1524319"/>
          <a:ext cx="8153400" cy="426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1"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Publication and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Approach (Methodology)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10">
                <a:tc>
                  <a:txBody>
                    <a:bodyPr/>
                    <a:lstStyle/>
                    <a:p>
                      <a:r>
                        <a:rPr lang="en-IN" dirty="0"/>
                        <a:t>IEEE Access, 2022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A. Verma et al.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MFCC feature extraction + CNN classifier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accuracy for audio emotions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Sensitive to background noise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16200000">
            <a:off x="8181340" y="5763258"/>
            <a:ext cx="1315721" cy="609600"/>
          </a:xfrm>
        </p:spPr>
        <p:txBody>
          <a:bodyPr vert="vert"/>
          <a:lstStyle/>
          <a:p>
            <a:fld id="{C7270E4E-6CF8-481F-A60C-CCDFC47DD1F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994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52718"/>
            <a:ext cx="8839200" cy="1371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Paper 4: Multimodal Emotion RECOGNITION USING AUDIO-VISUAL FUSION 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8227942"/>
              </p:ext>
            </p:extLst>
          </p:nvPr>
        </p:nvGraphicFramePr>
        <p:xfrm>
          <a:off x="609600" y="1524319"/>
          <a:ext cx="8153400" cy="426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1"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Publication and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Approach (Methodology)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1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Springer, 2023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J. Kim et al.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Fusion of audio and video features using deep learning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Better accuracy than unimodal systems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Complex model architecture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16200000">
            <a:off x="8181340" y="5763258"/>
            <a:ext cx="1315721" cy="609600"/>
          </a:xfrm>
        </p:spPr>
        <p:txBody>
          <a:bodyPr vert="vert"/>
          <a:lstStyle/>
          <a:p>
            <a:fld id="{C7270E4E-6CF8-481F-A60C-CCDFC47DD1F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419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52718"/>
            <a:ext cx="8839200" cy="1371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Paper 5: EMOTION DETECTION FROM FACIAL EXPRESSION USING TRANSFER LEARNING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463470"/>
              </p:ext>
            </p:extLst>
          </p:nvPr>
        </p:nvGraphicFramePr>
        <p:xfrm>
          <a:off x="609600" y="1524319"/>
          <a:ext cx="8153400" cy="426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1"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Publication and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Approach (Methodology)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1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IEEE, 2023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R. Singh et al.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Pretrained CNN models for facial emotion classification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Reduced training time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Depends on pretrained dataset bias</a:t>
                      </a:r>
                    </a:p>
                    <a:p>
                      <a:br>
                        <a:rPr lang="en-IN" dirty="0"/>
                      </a:b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16200000">
            <a:off x="8181340" y="5763258"/>
            <a:ext cx="1315721" cy="609600"/>
          </a:xfrm>
        </p:spPr>
        <p:txBody>
          <a:bodyPr vert="vert"/>
          <a:lstStyle/>
          <a:p>
            <a:fld id="{C7270E4E-6CF8-481F-A60C-CCDFC47DD1F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713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54210-03F6-07CF-F78D-32E4C6287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9FB1C-8F80-2E9C-5932-9F831F702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52718"/>
            <a:ext cx="8839200" cy="1371600"/>
          </a:xfrm>
        </p:spPr>
        <p:txBody>
          <a:bodyPr/>
          <a:lstStyle/>
          <a:p>
            <a:pPr algn="ctr"/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Paper 6: VIDEO-BASED EMOTION RECOGNITION USING CNN-LSTM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8025D50-A90E-F271-334C-59D903F324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4590921"/>
              </p:ext>
            </p:extLst>
          </p:nvPr>
        </p:nvGraphicFramePr>
        <p:xfrm>
          <a:off x="609600" y="1524319"/>
          <a:ext cx="8153400" cy="426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1"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Publication and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Approach (Methodology)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1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IEEE Access, 2023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P. Zhang et al.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CNN for spatial features + LSTM for temporal 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modeling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Captures emotion changes over time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memory usage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6A2EA-B1CC-C15F-C756-876E1F97C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74AAC-B8CD-9F24-38BA-B95030E7E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8181340" y="5763258"/>
            <a:ext cx="1315721" cy="609600"/>
          </a:xfrm>
        </p:spPr>
        <p:txBody>
          <a:bodyPr vert="vert"/>
          <a:lstStyle/>
          <a:p>
            <a:fld id="{C7270E4E-6CF8-481F-A60C-CCDFC47DD1F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177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72D31-03DE-29B5-62F0-F01A625E7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A4259-534E-C4A9-B9EE-B1F33F531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52718"/>
            <a:ext cx="8839200" cy="1371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Paper 7: FACIAL EMOTION RECOGNITION USING LIGHTWEIGHT DEEP MODELS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18381C0-316D-DCF6-D643-B44957C1ED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433681"/>
              </p:ext>
            </p:extLst>
          </p:nvPr>
        </p:nvGraphicFramePr>
        <p:xfrm>
          <a:off x="609600" y="1524319"/>
          <a:ext cx="8153400" cy="426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1"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Publication and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Approach (Methodology)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1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MDPI Sensors, 2023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L. Gomez et al.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Lightweight CNN architectures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Suitable for local machines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Slightly lower accuracy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CE3D3-E574-0D46-ED05-2516EE81B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8830F-AA40-6C8E-14FE-2165FC82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8181340" y="5763258"/>
            <a:ext cx="1315721" cy="609600"/>
          </a:xfrm>
        </p:spPr>
        <p:txBody>
          <a:bodyPr vert="vert"/>
          <a:lstStyle/>
          <a:p>
            <a:fld id="{C7270E4E-6CF8-481F-A60C-CCDFC47DD1F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293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17C6D-967E-175E-328B-BE4E8DD3C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11F70-61BE-B0E5-7EC1-EB271E41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52718"/>
            <a:ext cx="8839200" cy="1371600"/>
          </a:xfrm>
        </p:spPr>
        <p:txBody>
          <a:bodyPr/>
          <a:lstStyle/>
          <a:p>
            <a:pPr algn="ctr"/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Paper 8: EMOTION RECOGNITION USING RAVDESS DATASET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2C295B8-A7C8-4C9E-406D-5013BACCD5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3911535"/>
              </p:ext>
            </p:extLst>
          </p:nvPr>
        </p:nvGraphicFramePr>
        <p:xfrm>
          <a:off x="609600" y="1524319"/>
          <a:ext cx="8153400" cy="426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1"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Publication and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Approach (Methodology)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1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IEEE, 2023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T. Brown et al.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CNN-based classification on RAVDESS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Standard benchmark dataset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Acted emotions, not real-life</a:t>
                      </a:r>
                    </a:p>
                    <a:p>
                      <a:br>
                        <a:rPr lang="en-IN" dirty="0"/>
                      </a:b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D549B-B4B6-D8BC-4CFB-35520BA3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8B7B8-9ED1-D86B-9EF0-722E67F98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8181340" y="5763258"/>
            <a:ext cx="1315721" cy="609600"/>
          </a:xfrm>
        </p:spPr>
        <p:txBody>
          <a:bodyPr vert="vert"/>
          <a:lstStyle/>
          <a:p>
            <a:fld id="{C7270E4E-6CF8-481F-A60C-CCDFC47DD1F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583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7859B-8A0E-1612-6E97-EDBBE7CAC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CFD44-68B5-D538-D424-B54F6F81D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52718"/>
            <a:ext cx="8839200" cy="1371600"/>
          </a:xfrm>
        </p:spPr>
        <p:txBody>
          <a:bodyPr/>
          <a:lstStyle/>
          <a:p>
            <a:pPr algn="ctr"/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Paper 9: REAL- TIME FACIAL EMOTION RECOGNITION FOR HEALTHCARE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58ED553-8A4B-FEC2-66AD-534F5FD2C1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644537"/>
              </p:ext>
            </p:extLst>
          </p:nvPr>
        </p:nvGraphicFramePr>
        <p:xfrm>
          <a:off x="609600" y="1524319"/>
          <a:ext cx="8153400" cy="426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1"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Publication and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Approach (Methodology)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1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Springer, 2024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M. Ali et al.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Video emotion detection for healthcare monitoring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Useful in mental health applications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Requires controlled environment</a:t>
                      </a:r>
                    </a:p>
                    <a:p>
                      <a:br>
                        <a:rPr lang="en-IN" dirty="0"/>
                      </a:b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F6D37-7423-DDEB-E878-1F770EC0B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59EF1-4DEB-B236-46E3-4A915EE6D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8181340" y="5763258"/>
            <a:ext cx="1315721" cy="609600"/>
          </a:xfrm>
        </p:spPr>
        <p:txBody>
          <a:bodyPr vert="vert"/>
          <a:lstStyle/>
          <a:p>
            <a:fld id="{C7270E4E-6CF8-481F-A60C-CCDFC47DD1F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821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3A20B-05CB-7BA0-CD66-F00DD1994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9AE74-DED0-250D-5234-686508C8D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52718"/>
            <a:ext cx="8839200" cy="1371600"/>
          </a:xfrm>
        </p:spPr>
        <p:txBody>
          <a:bodyPr/>
          <a:lstStyle/>
          <a:p>
            <a:pPr algn="ctr"/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Paper 10: ATTENTION-BASED EMOTION RECOGNITION SYSTEM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14B7E75-0776-AE54-97A4-DC3F0865B0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0875864"/>
              </p:ext>
            </p:extLst>
          </p:nvPr>
        </p:nvGraphicFramePr>
        <p:xfrm>
          <a:off x="609600" y="1524319"/>
          <a:ext cx="8153400" cy="426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1"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Publication and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Approach (Methodology)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1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IEEE Access, 2024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H. Wang et al.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Attention mechanism with CNN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Focuses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on important facial </a:t>
                      </a:r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regions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Increased training complexity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689D0-DBBC-5FC3-1102-D062485D4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108C2-ED0C-A66E-305F-0F75B3C36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8181340" y="5763258"/>
            <a:ext cx="1315721" cy="609600"/>
          </a:xfrm>
        </p:spPr>
        <p:txBody>
          <a:bodyPr vert="vert"/>
          <a:lstStyle/>
          <a:p>
            <a:fld id="{C7270E4E-6CF8-481F-A60C-CCDFC47DD1F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7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27EFF-E123-5FED-D450-BCD52405E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8059-0385-848F-156C-B5298BE18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52718"/>
            <a:ext cx="8839200" cy="1371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Paper 11: EMOTION RECOGNITION USING DEEP LEARNING IN SMART SYSTEM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59DA587-8176-B68B-600B-C67EB10E13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8188184"/>
              </p:ext>
            </p:extLst>
          </p:nvPr>
        </p:nvGraphicFramePr>
        <p:xfrm>
          <a:off x="609600" y="1524319"/>
          <a:ext cx="8153400" cy="426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1"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Publication and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Approach (Methodology)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1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Springer, 2024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N. Patel et al.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Deep CNN models for smart interaction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Improves human-computer interaction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dependency on camera quality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6880B-7A7A-636C-A2E5-4A0647ACD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E751A-FA0F-F074-B046-05EC107FD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8181340" y="5763258"/>
            <a:ext cx="1315721" cy="609600"/>
          </a:xfrm>
        </p:spPr>
        <p:txBody>
          <a:bodyPr vert="vert"/>
          <a:lstStyle/>
          <a:p>
            <a:fld id="{C7270E4E-6CF8-481F-A60C-CCDFC47DD1F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827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7254D-9DF4-C237-3F6D-A99FFFE71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DF551-4B8E-50DD-8D3E-2B229A549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52718"/>
            <a:ext cx="8839200" cy="1371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Paper 12: AUDIO EMOTION RECOGNITION USING SPRECTROGRAMS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D4AAC48-9E3A-DAF1-CF81-527D170157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3513057"/>
              </p:ext>
            </p:extLst>
          </p:nvPr>
        </p:nvGraphicFramePr>
        <p:xfrm>
          <a:off x="609600" y="1524319"/>
          <a:ext cx="8153400" cy="426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1"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Publication and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Approach (Methodology)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1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IEEE, 2024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Y. Chen et al.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Spectrogram images + CNN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Effective feature representation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Needs high-quality audio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E0FCD-877C-034A-D48D-B81D72E7C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451C8-E574-32BA-D8DF-E307A8857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8181340" y="5763258"/>
            <a:ext cx="1315721" cy="609600"/>
          </a:xfrm>
        </p:spPr>
        <p:txBody>
          <a:bodyPr vert="vert"/>
          <a:lstStyle/>
          <a:p>
            <a:fld id="{C7270E4E-6CF8-481F-A60C-CCDFC47DD1F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31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DE973-D3D9-5279-D0E2-767DDAC06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C501F-5980-A77E-50A9-3C3C3CB6C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52718"/>
            <a:ext cx="8839200" cy="1371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Paper 13: FACIAL EMOTION RECOGNITION USING OPENCV AND CNN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B8DC34A-7332-6848-73A5-787DB76FD2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9033412"/>
              </p:ext>
            </p:extLst>
          </p:nvPr>
        </p:nvGraphicFramePr>
        <p:xfrm>
          <a:off x="609600" y="1524319"/>
          <a:ext cx="8153400" cy="426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1"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Publication and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Approach (Methodology)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1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MDPI, 2024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D. Kumar et al.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Face detection with OpenCV + CNN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Simple and efficient pipeline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Sensitive to lighting conditions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E8130-05F2-EB53-5D5A-370CF8677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9CD79-6D2F-A29A-85A1-753B8DD8E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8181340" y="5763258"/>
            <a:ext cx="1315721" cy="609600"/>
          </a:xfrm>
        </p:spPr>
        <p:txBody>
          <a:bodyPr vert="vert"/>
          <a:lstStyle/>
          <a:p>
            <a:fld id="{C7270E4E-6CF8-481F-A60C-CCDFC47DD1F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9023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10489-2D63-3143-D248-4FF0D4764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01820-F2BB-71DE-EC2F-143FE3767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52718"/>
            <a:ext cx="8839200" cy="1371600"/>
          </a:xfrm>
        </p:spPr>
        <p:txBody>
          <a:bodyPr/>
          <a:lstStyle/>
          <a:p>
            <a:pPr algn="ctr"/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Paper 14: MULTIMODAL EMOTION DETECTION FOR MENTAL HEALTH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0E2E74B-59A1-51AF-61B9-61B041FABD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6072058"/>
              </p:ext>
            </p:extLst>
          </p:nvPr>
        </p:nvGraphicFramePr>
        <p:xfrm>
          <a:off x="609600" y="1524319"/>
          <a:ext cx="8153400" cy="426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1"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Publication and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Approach (Methodology)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1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IEEE, 2025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S. Roy et al.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Audio-video emotion analysis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Improved mental health assessment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Large computational cost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BFF3D-6846-4B78-5855-71B8F0545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396C0-258F-402D-A35F-7E1695CBF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8181340" y="5763258"/>
            <a:ext cx="1315721" cy="609600"/>
          </a:xfrm>
        </p:spPr>
        <p:txBody>
          <a:bodyPr vert="vert"/>
          <a:lstStyle/>
          <a:p>
            <a:fld id="{C7270E4E-6CF8-481F-A60C-CCDFC47DD1F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719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A92A8-F467-4041-FAC2-3AD6EA248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1EA24-286D-A558-E043-C903A3581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52718"/>
            <a:ext cx="8839200" cy="1371600"/>
          </a:xfrm>
        </p:spPr>
        <p:txBody>
          <a:bodyPr/>
          <a:lstStyle/>
          <a:p>
            <a:pPr algn="ctr"/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Paper 15: REAL-TIME EMOTION RECOGNITION ON EDGR DEVICES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CED5B35-3BAF-D0A2-C04D-C6D17D1928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107890"/>
              </p:ext>
            </p:extLst>
          </p:nvPr>
        </p:nvGraphicFramePr>
        <p:xfrm>
          <a:off x="609600" y="1524319"/>
          <a:ext cx="8153400" cy="426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1"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Publication and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Approach (Methodology)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1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Springer, 2025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A. Mehta et al.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Lightweight CNN models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Works on low-resource systems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Reduced accuracy compared to heavy models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C9777-BA25-A666-718E-BD0EACBF1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ECAC4-2F97-1BCF-CA00-F9DDB8F58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8181340" y="5763258"/>
            <a:ext cx="1315721" cy="609600"/>
          </a:xfrm>
        </p:spPr>
        <p:txBody>
          <a:bodyPr vert="vert"/>
          <a:lstStyle/>
          <a:p>
            <a:fld id="{C7270E4E-6CF8-481F-A60C-CCDFC47DD1F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7644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044A7-F57D-D06E-5E72-8B845C3CE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4CCE5-ED1C-81AB-1EAA-50417DA28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52718"/>
            <a:ext cx="8839200" cy="1371600"/>
          </a:xfrm>
        </p:spPr>
        <p:txBody>
          <a:bodyPr/>
          <a:lstStyle/>
          <a:p>
            <a:pPr algn="ctr"/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Paper 16: EMOTION RECOGNITION USING DEEP TRANSFER LEARNING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D3B1F2B-600F-313D-4A6F-2055EA4968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6277014"/>
              </p:ext>
            </p:extLst>
          </p:nvPr>
        </p:nvGraphicFramePr>
        <p:xfrm>
          <a:off x="609600" y="1524319"/>
          <a:ext cx="8153400" cy="426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1"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Publication and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Approach (Methodology)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1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IEEE Access, 2025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F. Lopez et al.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Transfer learning with CNN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Faster convergence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Dataset dependency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02F77-93F7-42F5-1C54-C78A9D70D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DED94-72D8-CE60-9107-973206BE8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8181340" y="5763258"/>
            <a:ext cx="1315721" cy="609600"/>
          </a:xfrm>
        </p:spPr>
        <p:txBody>
          <a:bodyPr vert="vert"/>
          <a:lstStyle/>
          <a:p>
            <a:fld id="{C7270E4E-6CF8-481F-A60C-CCDFC47DD1F2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37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FE244-7C90-6A26-2877-0D7EBDDB1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80F6D-190D-B021-A243-58094A620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52718"/>
            <a:ext cx="8839200" cy="1371600"/>
          </a:xfrm>
        </p:spPr>
        <p:txBody>
          <a:bodyPr/>
          <a:lstStyle/>
          <a:p>
            <a:pPr algn="ctr"/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Paper 17: FACIAL EMOTION RECOGNITION USING MOBILENETV2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233EC83-2149-BD72-4D5B-B5056B8E0E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1699663"/>
              </p:ext>
            </p:extLst>
          </p:nvPr>
        </p:nvGraphicFramePr>
        <p:xfrm>
          <a:off x="609600" y="1524319"/>
          <a:ext cx="8153400" cy="426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1"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Publication and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Approach (Methodology)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1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MDPI, 2025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R. Iyer et al.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MobileNetV2-based facial analysis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accuracy with low memory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Needs balanced dataset</a:t>
                      </a:r>
                    </a:p>
                    <a:p>
                      <a:br>
                        <a:rPr lang="en-IN" dirty="0"/>
                      </a:b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8D76A-5EF1-4D20-8CA1-031E0470B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A465D-82EE-063D-90DB-D322903D9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8181340" y="5763258"/>
            <a:ext cx="1315721" cy="609600"/>
          </a:xfrm>
        </p:spPr>
        <p:txBody>
          <a:bodyPr vert="vert"/>
          <a:lstStyle/>
          <a:p>
            <a:fld id="{C7270E4E-6CF8-481F-A60C-CCDFC47DD1F2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9495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5AEDD-9480-731A-27E0-EAFC0DB51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77AD1-CDA9-047A-99D3-0DBEB0D3F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52718"/>
            <a:ext cx="8839200" cy="1371600"/>
          </a:xfrm>
        </p:spPr>
        <p:txBody>
          <a:bodyPr/>
          <a:lstStyle/>
          <a:p>
            <a:pPr algn="ctr"/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Paper 18: VIDEO EMOTION RECOGNITION USING DEEP LEARNING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88C0305-292D-76A7-C863-836A6219D4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547916"/>
              </p:ext>
            </p:extLst>
          </p:nvPr>
        </p:nvGraphicFramePr>
        <p:xfrm>
          <a:off x="609600" y="1524319"/>
          <a:ext cx="8153400" cy="426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1"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Publication and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Approach (Methodology)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1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Springer, 2025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K. Lee et al.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Deep CNN for video frames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Accurate facial emotion detection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Limited real-world testing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1CDEE-55CA-AB00-DF20-0B637FC20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4905F-74A5-F8F6-77E5-793FB6E84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8181340" y="5763258"/>
            <a:ext cx="1315721" cy="609600"/>
          </a:xfrm>
        </p:spPr>
        <p:txBody>
          <a:bodyPr vert="vert"/>
          <a:lstStyle/>
          <a:p>
            <a:fld id="{C7270E4E-6CF8-481F-A60C-CCDFC47DD1F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4451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8E9A1-3F19-187F-703F-2BF6D4CD1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F88F5-039B-E7A4-1D81-55635956B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52718"/>
            <a:ext cx="8839200" cy="1371600"/>
          </a:xfrm>
        </p:spPr>
        <p:txBody>
          <a:bodyPr/>
          <a:lstStyle/>
          <a:p>
            <a:pPr algn="ctr"/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Paper 19: AL-BASED EMOTION RECOGNITION SYSTEM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C0FD46C-393C-78C9-442F-231CF3F911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7527359"/>
              </p:ext>
            </p:extLst>
          </p:nvPr>
        </p:nvGraphicFramePr>
        <p:xfrm>
          <a:off x="609600" y="1524319"/>
          <a:ext cx="8153400" cy="426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1"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Publication and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Approach (Methodology)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1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IEEE, 2026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J. Martinez et al.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AI-driven facial and voice emotion analysis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prediction accuracy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Complex system integration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CF1FF-D9AE-82BE-41FE-711BE5587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93EB-E24F-1B90-758D-14B897A52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8181340" y="5763258"/>
            <a:ext cx="1315721" cy="609600"/>
          </a:xfrm>
        </p:spPr>
        <p:txBody>
          <a:bodyPr vert="vert"/>
          <a:lstStyle/>
          <a:p>
            <a:fld id="{C7270E4E-6CF8-481F-A60C-CCDFC47DD1F2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9073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52718"/>
            <a:ext cx="8839200" cy="1371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Paper 20: MULTIMODAL EMOTION RECOGNITION FOR HUMAM-CENTERED AI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9007155"/>
              </p:ext>
            </p:extLst>
          </p:nvPr>
        </p:nvGraphicFramePr>
        <p:xfrm>
          <a:off x="609600" y="1524319"/>
          <a:ext cx="8153400" cy="426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1"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Publication and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Approach (Methodology)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1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Springer, 2026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S. Ahmed et al.</a:t>
                      </a:r>
                      <a:br>
                        <a:rPr lang="en-IN" dirty="0"/>
                      </a:b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Multimodal deep learning framework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Best overall performance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training time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16200000">
            <a:off x="8181340" y="5763258"/>
            <a:ext cx="1315721" cy="609600"/>
          </a:xfrm>
        </p:spPr>
        <p:txBody>
          <a:bodyPr vert="vert"/>
          <a:lstStyle/>
          <a:p>
            <a:fld id="{C7270E4E-6CF8-481F-A60C-CCDFC47DD1F2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5458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Algerian" pitchFamily="82" charset="0"/>
              </a:rPr>
              <a:t>Research Gap</a:t>
            </a:r>
            <a:endParaRPr lang="en-US" sz="4400" b="1" dirty="0">
              <a:latin typeface="Algerian" pitchFamily="8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vert="vert"/>
          <a:lstStyle/>
          <a:p>
            <a:fld id="{C7270E4E-6CF8-481F-A60C-CCDFC47DD1F2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C85EE0B-0ED7-BBF4-FAB9-10DB9EDCCF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998386"/>
            <a:ext cx="6979796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systems 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acted datasets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real-world emotions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memory and computation requirements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lightweight models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local systems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integration with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mental health applications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6279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Algerian" pitchFamily="82" charset="0"/>
              </a:rPr>
              <a:t>objectives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vert="vert"/>
          <a:lstStyle/>
          <a:p>
            <a:fld id="{C7270E4E-6CF8-481F-A60C-CCDFC47DD1F2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B9D3FC4-6C1C-7891-C579-8DE2779795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767554"/>
            <a:ext cx="6710491" cy="2343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lightweight video emotion recognition system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MobileNetV2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faster training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memory usage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 sampling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 reliable accuracy on local machine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Extend system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audio-based emotion recognition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7710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5791200" cy="1512168"/>
          </a:xfrm>
        </p:spPr>
        <p:txBody>
          <a:bodyPr>
            <a:normAutofit fontScale="90000"/>
          </a:bodyPr>
          <a:lstStyle/>
          <a:p>
            <a:br>
              <a:rPr lang="en-IN" sz="4400" b="1" dirty="0">
                <a:latin typeface="Algerian" pitchFamily="82" charset="0"/>
              </a:rPr>
            </a:br>
            <a:r>
              <a:rPr lang="en-IN" sz="4400" b="1" dirty="0">
                <a:latin typeface="Algerian" pitchFamily="82" charset="0"/>
              </a:rPr>
              <a:t>Methodology</a:t>
            </a:r>
            <a:br>
              <a:rPr lang="en-IN" sz="4400" dirty="0">
                <a:latin typeface="Times New Roman" pitchFamily="18" charset="0"/>
                <a:cs typeface="Times New Roman" pitchFamily="18" charset="0"/>
              </a:rPr>
            </a:br>
            <a:endParaRPr lang="en-US" sz="4400" b="1" dirty="0">
              <a:latin typeface="Algerian" pitchFamily="8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vert="vert"/>
          <a:lstStyle/>
          <a:p>
            <a:fld id="{C7270E4E-6CF8-481F-A60C-CCDFC47DD1F2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C720737-1A9E-5BF2-7F3A-AF12358483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305889"/>
            <a:ext cx="4366901" cy="326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collection (RAVDESS)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Video frame extraction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 detection using OpenCV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learning using MobileNetV2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training &amp; validation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Emotion prediction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evaluation</a:t>
            </a:r>
          </a:p>
        </p:txBody>
      </p:sp>
    </p:spTree>
    <p:extLst>
      <p:ext uri="{BB962C8B-B14F-4D97-AF65-F5344CB8AC3E}">
        <p14:creationId xmlns:p14="http://schemas.microsoft.com/office/powerpoint/2010/main" val="23171254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08720"/>
            <a:ext cx="5791200" cy="1224136"/>
          </a:xfrm>
        </p:spPr>
        <p:txBody>
          <a:bodyPr>
            <a:normAutofit fontScale="90000"/>
          </a:bodyPr>
          <a:lstStyle/>
          <a:p>
            <a:r>
              <a:rPr lang="en-IN" sz="4400" b="1" dirty="0">
                <a:latin typeface="Algerian" pitchFamily="82" charset="0"/>
              </a:rPr>
              <a:t>Existing Work Flow</a:t>
            </a:r>
            <a:br>
              <a:rPr lang="en-IN" sz="4400" b="1" dirty="0">
                <a:latin typeface="Algerian" pitchFamily="82" charset="0"/>
              </a:rPr>
            </a:br>
            <a:endParaRPr lang="en-US" sz="4400" b="1" dirty="0">
              <a:latin typeface="Algerian" pitchFamily="8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vert="vert"/>
          <a:lstStyle/>
          <a:p>
            <a:fld id="{C7270E4E-6CF8-481F-A60C-CCDFC47DD1F2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7B3389E-162A-3979-4788-8D10D52BEC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998386"/>
            <a:ext cx="4434227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emotion identification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Text-based sentiment analysis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real-time facial emotion detection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accuracy</a:t>
            </a:r>
          </a:p>
        </p:txBody>
      </p:sp>
    </p:spTree>
    <p:extLst>
      <p:ext uri="{BB962C8B-B14F-4D97-AF65-F5344CB8AC3E}">
        <p14:creationId xmlns:p14="http://schemas.microsoft.com/office/powerpoint/2010/main" val="25784561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908130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Algerian" pitchFamily="82" charset="0"/>
              </a:rPr>
              <a:t>Proposed </a:t>
            </a:r>
            <a:r>
              <a:rPr lang="en-IN" sz="4400" b="1" dirty="0">
                <a:latin typeface="Algerian" pitchFamily="82" charset="0"/>
              </a:rPr>
              <a:t>Work Flow</a:t>
            </a:r>
            <a:br>
              <a:rPr lang="en-IN" sz="4400" dirty="0">
                <a:latin typeface="Times New Roman" pitchFamily="18" charset="0"/>
                <a:cs typeface="Times New Roman" pitchFamily="18" charset="0"/>
              </a:rPr>
            </a:br>
            <a:endParaRPr lang="en-US" sz="4400" b="1" dirty="0">
              <a:latin typeface="Algerian" pitchFamily="8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vert="vert"/>
          <a:lstStyle/>
          <a:p>
            <a:fld id="{C7270E4E-6CF8-481F-A60C-CCDFC47DD1F2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9D942AF-79A9-FE62-AFD0-857BCCBECA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767554"/>
            <a:ext cx="5165197" cy="2343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Video input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 detection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learning-based emotion 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prediction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Future: audio emotion + mood suggestions</a:t>
            </a:r>
          </a:p>
        </p:txBody>
      </p:sp>
    </p:spTree>
    <p:extLst>
      <p:ext uri="{BB962C8B-B14F-4D97-AF65-F5344CB8AC3E}">
        <p14:creationId xmlns:p14="http://schemas.microsoft.com/office/powerpoint/2010/main" val="14123075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Algerian" pitchFamily="82" charset="0"/>
              </a:rPr>
              <a:t>IMPLEMENTATION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vert="vert"/>
          <a:lstStyle/>
          <a:p>
            <a:fld id="{C7270E4E-6CF8-481F-A60C-CCDFC47DD1F2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3E64DEA-B4E4-6610-6413-E91422D09B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767555"/>
            <a:ext cx="6366230" cy="2343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RAVDESS (Video Speech Emotion Dataset)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MobileNetV2 (Transfer Learning)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Python, OpenCV, TensorFlow,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Keras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~90% (Video Emotion Recognition)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Confusion Matrix &amp; Accuracy Score</a:t>
            </a:r>
          </a:p>
        </p:txBody>
      </p:sp>
    </p:spTree>
    <p:extLst>
      <p:ext uri="{BB962C8B-B14F-4D97-AF65-F5344CB8AC3E}">
        <p14:creationId xmlns:p14="http://schemas.microsoft.com/office/powerpoint/2010/main" val="13304123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Algerian" pitchFamily="82" charset="0"/>
              </a:rPr>
              <a:t>conclusion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vert="vert"/>
          <a:lstStyle/>
          <a:p>
            <a:fld id="{C7270E4E-6CF8-481F-A60C-CCDFC47DD1F2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6B9FD73-6B52-FA3A-18B1-75FF265693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282806"/>
            <a:ext cx="8245475" cy="3313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AIME successfully demonstrates an efficient AI-based emotion recognition system using video data.</a:t>
            </a:r>
          </a:p>
          <a:p>
            <a:r>
              <a:rPr lang="en-US" dirty="0"/>
              <a:t>The system performs well on local machines with optimized memory usage and provides accurate emotion detection.</a:t>
            </a:r>
          </a:p>
          <a:p>
            <a:r>
              <a:rPr lang="en-US" dirty="0"/>
              <a:t>Future work includes:</a:t>
            </a:r>
            <a:endParaRPr lang="en-US" altLang="en-US" b="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Audio emotion recognition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Multimodal fusion (Audio + Video)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mental health suggestions</a:t>
            </a:r>
          </a:p>
        </p:txBody>
      </p:sp>
    </p:spTree>
    <p:extLst>
      <p:ext uri="{BB962C8B-B14F-4D97-AF65-F5344CB8AC3E}">
        <p14:creationId xmlns:p14="http://schemas.microsoft.com/office/powerpoint/2010/main" val="12356279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Algerian" pitchFamily="82" charset="0"/>
              </a:rPr>
              <a:t>References</a:t>
            </a:r>
            <a:endParaRPr lang="en-GB" sz="4400" b="1" dirty="0">
              <a:latin typeface="Algerian" pitchFamily="82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vert"/>
          <a:lstStyle/>
          <a:p>
            <a:fld id="{C7270E4E-6CF8-481F-A60C-CCDFC47DD1F2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EDE2A9E-DF57-10FC-66F4-303D73089C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767554"/>
            <a:ext cx="4365747" cy="2343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RAVDESS Dataset – Kaggle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IEEE Emotion Recognition Papers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TensorFlow &amp;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OpenCV Face Detection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articles (2022–2026)</a:t>
            </a:r>
          </a:p>
        </p:txBody>
      </p:sp>
    </p:spTree>
    <p:extLst>
      <p:ext uri="{BB962C8B-B14F-4D97-AF65-F5344CB8AC3E}">
        <p14:creationId xmlns:p14="http://schemas.microsoft.com/office/powerpoint/2010/main" val="31172507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112837"/>
            <a:ext cx="7620000" cy="4373563"/>
          </a:xfrm>
        </p:spPr>
        <p:txBody>
          <a:bodyPr>
            <a:noAutofit/>
          </a:bodyPr>
          <a:lstStyle/>
          <a:p>
            <a:endParaRPr lang="en-US" sz="80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  <a:cs typeface="Arial" pitchFamily="34" charset="0"/>
            </a:endParaRPr>
          </a:p>
          <a:p>
            <a:pPr algn="ctr">
              <a:buNone/>
            </a:pPr>
            <a:r>
              <a:rPr lang="en-US" sz="8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cs typeface="Arial" pitchFamily="34" charset="0"/>
              </a:rPr>
              <a:t>THANK You…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AIME : AI that understands the real you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 rot="16200000">
            <a:off x="8143240" y="5801359"/>
            <a:ext cx="1315721" cy="533400"/>
          </a:xfrm>
        </p:spPr>
        <p:txBody>
          <a:bodyPr vert="vert"/>
          <a:lstStyle/>
          <a:p>
            <a:fld id="{C7270E4E-6CF8-481F-A60C-CCDFC47DD1F2}" type="slidenum">
              <a:rPr lang="en-US" smtClean="0"/>
              <a:pPr/>
              <a:t>36</a:t>
            </a:fld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1941</TotalTime>
  <Words>1663</Words>
  <Application>Microsoft Office PowerPoint</Application>
  <PresentationFormat>On-screen Show (4:3)</PresentationFormat>
  <Paragraphs>400</Paragraphs>
  <Slides>36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Algerian</vt:lpstr>
      <vt:lpstr>Arial</vt:lpstr>
      <vt:lpstr>Arial Black</vt:lpstr>
      <vt:lpstr>Arial Unicode MS</vt:lpstr>
      <vt:lpstr>Calibri</vt:lpstr>
      <vt:lpstr>Times New Roman</vt:lpstr>
      <vt:lpstr>Wingdings</vt:lpstr>
      <vt:lpstr>Essential</vt:lpstr>
      <vt:lpstr> Presentation on  AIME : AI that understands the real you  </vt:lpstr>
      <vt:lpstr>Outline</vt:lpstr>
      <vt:lpstr>INTRODUCTION</vt:lpstr>
      <vt:lpstr>motivation</vt:lpstr>
      <vt:lpstr>Aim</vt:lpstr>
      <vt:lpstr>Applications</vt:lpstr>
      <vt:lpstr>Literature survey</vt:lpstr>
      <vt:lpstr>Paper 1: Facial Emotion Recognition using Deep CNN</vt:lpstr>
      <vt:lpstr>Paper 2: Real-Time Emotion Recognition using MobileNet</vt:lpstr>
      <vt:lpstr>Paper 3: Speech Emotion Recognition using MFCC &amp; CNN</vt:lpstr>
      <vt:lpstr>Paper 4: Multimodal Emotion RECOGNITION USING AUDIO-VISUAL FUSION </vt:lpstr>
      <vt:lpstr>Paper 5: EMOTION DETECTION FROM FACIAL EXPRESSION USING TRANSFER LEARNING</vt:lpstr>
      <vt:lpstr>Paper 6: VIDEO-BASED EMOTION RECOGNITION USING CNN-LSTM</vt:lpstr>
      <vt:lpstr>Paper 7: FACIAL EMOTION RECOGNITION USING LIGHTWEIGHT DEEP MODELS</vt:lpstr>
      <vt:lpstr>Paper 8: EMOTION RECOGNITION USING RAVDESS DATASET</vt:lpstr>
      <vt:lpstr>Paper 9: REAL- TIME FACIAL EMOTION RECOGNITION FOR HEALTHCARE</vt:lpstr>
      <vt:lpstr>Paper 10: ATTENTION-BASED EMOTION RECOGNITION SYSTEM</vt:lpstr>
      <vt:lpstr>Paper 11: EMOTION RECOGNITION USING DEEP LEARNING IN SMART SYSTEM</vt:lpstr>
      <vt:lpstr>Paper 12: AUDIO EMOTION RECOGNITION USING SPRECTROGRAMS</vt:lpstr>
      <vt:lpstr>Paper 13: FACIAL EMOTION RECOGNITION USING OPENCV AND CNN</vt:lpstr>
      <vt:lpstr>Paper 14: MULTIMODAL EMOTION DETECTION FOR MENTAL HEALTH</vt:lpstr>
      <vt:lpstr>Paper 15: REAL-TIME EMOTION RECOGNITION ON EDGR DEVICES</vt:lpstr>
      <vt:lpstr>Paper 16: EMOTION RECOGNITION USING DEEP TRANSFER LEARNING</vt:lpstr>
      <vt:lpstr>Paper 17: FACIAL EMOTION RECOGNITION USING MOBILENETV2</vt:lpstr>
      <vt:lpstr>Paper 18: VIDEO EMOTION RECOGNITION USING DEEP LEARNING</vt:lpstr>
      <vt:lpstr>Paper 19: AL-BASED EMOTION RECOGNITION SYSTEM</vt:lpstr>
      <vt:lpstr>Paper 20: MULTIMODAL EMOTION RECOGNITION FOR HUMAM-CENTERED AI</vt:lpstr>
      <vt:lpstr>Research Gap</vt:lpstr>
      <vt:lpstr>objectives</vt:lpstr>
      <vt:lpstr> Methodology </vt:lpstr>
      <vt:lpstr>Existing Work Flow </vt:lpstr>
      <vt:lpstr>Proposed Work Flow </vt:lpstr>
      <vt:lpstr>IMPLEMENTATION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ZANKHANA</dc:creator>
  <cp:lastModifiedBy>jay patel</cp:lastModifiedBy>
  <cp:revision>229</cp:revision>
  <dcterms:created xsi:type="dcterms:W3CDTF">2014-10-11T18:55:44Z</dcterms:created>
  <dcterms:modified xsi:type="dcterms:W3CDTF">2026-02-03T04:52:24Z</dcterms:modified>
</cp:coreProperties>
</file>